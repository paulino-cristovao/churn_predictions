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72"/>
    <p:restoredTop sz="94686"/>
  </p:normalViewPr>
  <p:slideViewPr>
    <p:cSldViewPr snapToGrid="0" snapToObjects="1">
      <p:cViewPr varScale="1">
        <p:scale>
          <a:sx n="124" d="100"/>
          <a:sy n="124" d="100"/>
        </p:scale>
        <p:origin x="184" y="52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6B99EB-0754-0716-6DE9-D4F79BA5BC07}"/>
              </a:ext>
            </a:extLst>
          </p:cNvPr>
          <p:cNvSpPr/>
          <p:nvPr userDrawn="1"/>
        </p:nvSpPr>
        <p:spPr>
          <a:xfrm>
            <a:off x="0" y="0"/>
            <a:ext cx="9144000" cy="106322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17019"/>
            <a:ext cx="9143998" cy="3280596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31539" y="-2948881"/>
            <a:ext cx="3280918" cy="9144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102522" y="-2777901"/>
            <a:ext cx="3280596" cy="880235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-17017"/>
            <a:ext cx="6406863" cy="3280594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4459073" y="-774039"/>
            <a:ext cx="3742610" cy="3329347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6118" y="551329"/>
            <a:ext cx="7540322" cy="2196353"/>
          </a:xfrm>
        </p:spPr>
        <p:txBody>
          <a:bodyPr anchor="b">
            <a:normAutofit/>
          </a:bodyPr>
          <a:lstStyle/>
          <a:p>
            <a:pPr algn="l">
              <a:defRPr b="1">
                <a:solidFill>
                  <a:srgbClr val="003366"/>
                </a:solidFill>
                <a:latin typeface="Times New Roman"/>
              </a:defRPr>
            </a:pPr>
            <a:r>
              <a:rPr lang="en-US" sz="3600">
                <a:solidFill>
                  <a:srgbClr val="FFFFFF"/>
                </a:solidFill>
              </a:rPr>
              <a:t>Prédiction de Conversion Trial-to-Paid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3011" y="3653118"/>
            <a:ext cx="7504463" cy="1093693"/>
          </a:xfrm>
        </p:spPr>
        <p:txBody>
          <a:bodyPr anchor="ctr">
            <a:normAutofit/>
          </a:bodyPr>
          <a:lstStyle/>
          <a:p>
            <a:pPr algn="l">
              <a:defRPr>
                <a:latin typeface="Times New Roman"/>
              </a:defRPr>
            </a:pPr>
            <a:endParaRPr lang="en-JP"/>
          </a:p>
          <a:p>
            <a:pPr algn="l">
              <a:defRPr>
                <a:latin typeface="Times New Roman"/>
              </a:defRPr>
            </a:pPr>
            <a:r>
              <a:rPr lang="en-US"/>
              <a:t>Kolecto – 11/12/2025</a:t>
            </a:r>
            <a:endParaRPr lang="en-JP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rPr lang="en-US" dirty="0" err="1">
                <a:solidFill>
                  <a:schemeClr val="bg1"/>
                </a:solidFill>
              </a:rPr>
              <a:t>Contexte</a:t>
            </a:r>
            <a:r>
              <a:rPr lang="en-US" dirty="0">
                <a:solidFill>
                  <a:schemeClr val="bg1"/>
                </a:solidFill>
              </a:rPr>
              <a:t> Business &amp; </a:t>
            </a:r>
            <a:r>
              <a:rPr lang="en-US" dirty="0" err="1">
                <a:solidFill>
                  <a:schemeClr val="bg1"/>
                </a:solidFill>
              </a:rPr>
              <a:t>Objectifs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85900" y="1028701"/>
            <a:ext cx="6172200" cy="285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350"/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lang="en-US" sz="1350"/>
              <a:t>• Contexte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lang="en-US" sz="1200"/>
              <a:t>•  Kolecto propose un essai gratuit de 15 jours convertissant en abonnement payant.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lang="en-US" sz="1200"/>
              <a:t>•  Taux de conversion actuel : ~60% (Satisfaisant mais perfectible).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lang="en-US" sz="1350"/>
              <a:t>• Challenge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lang="en-US" sz="1200"/>
              <a:t>•  Identifier tôt les signaux précurseurs (succès vs désabonnement).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lang="en-US" sz="1200"/>
              <a:t>•  Permettre des actions ciblées par l'équipe Customer Experience (CX).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lang="en-US" sz="1350"/>
              <a:t>• Objectifs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lang="en-US" sz="1200"/>
              <a:t>•  Analyser les facteurs différenciants (Convertis vs Non-Convertis).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lang="en-US" sz="1200"/>
              <a:t>•  Construire un modèle ML pour prédire la probabilité de conversion.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Vue d'Ensemble des Données &amp; Prétraitement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0" y="1371600"/>
          <a:ext cx="5486400" cy="116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400"/>
                        <a:t>Jeu de Données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400"/>
                        <a:t>Taille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400"/>
                        <a:t>Description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400"/>
                        <a:t>Prétraitement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Daily Usage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~11k lignes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Logs d'activité (Virements, Connexions)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Agrégation (Somme/Moyenne/Max/Std)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Subscriptions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416 essais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Profil Entreprise (CA, Code NAF)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Fusion, Imputation, Encodage OneHot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28800" y="2537460"/>
            <a:ext cx="3312125" cy="623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sz="1350"/>
          </a:p>
          <a:p>
            <a:pPr>
              <a:defRPr sz="1400" i="1">
                <a:latin typeface="Times New Roman"/>
              </a:defRPr>
            </a:pPr>
            <a:r>
              <a:rPr sz="1050"/>
              <a:t>Stats Clés : Échantillon Total : 416 essais complets.</a:t>
            </a:r>
          </a:p>
          <a:p>
            <a:pPr>
              <a:defRPr sz="1400" i="1">
                <a:latin typeface="Times New Roman"/>
              </a:defRPr>
            </a:pPr>
            <a:r>
              <a:rPr sz="1050"/>
              <a:t>Taux de Conversion : 60.7% (Déséquilibré mais gérable).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Méthodologie &amp; Modèles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3716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485900" y="1028700"/>
            <a:ext cx="61722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1350"/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Stratégie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Features Tabulaires (157 dims) pour modèles Arborescents.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Données Séquentielles (15 jours) pour le Deep Learning.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Modèles Entraînés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Logistic Regression (Baseline).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XGBoost &amp; LightGBM (Gradient Boosting optimisé avec Optuna).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GRU &amp; Transformer (Modélisation séquentielle des signaux temporel).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Métriques d'Évaluation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ROC-AUC : Capacité de discrimination (Métrique Principale).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PR-AUC : Précision-Rappel (Critique pour l'imbalance).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Comparaison Globale des Résultats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8679664"/>
              </p:ext>
            </p:extLst>
          </p:nvPr>
        </p:nvGraphicFramePr>
        <p:xfrm>
          <a:off x="1828800" y="1371600"/>
          <a:ext cx="5212080" cy="1678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2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2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24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24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5235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/>
                        <a:t>Modèle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/>
                        <a:t>ROC-AUC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/>
                        <a:t>PR-AUC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/>
                        <a:t>Accuracy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/>
                        <a:t>Brier Score</a:t>
                      </a:r>
                    </a:p>
                  </a:txBody>
                  <a:tcPr marL="68580" marR="68580" marT="34290" marB="34290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LightGBM (Vainqueur)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0.790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0.835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72.3%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0.193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35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GRU (RNN)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0.713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0.743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65.1%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0.217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235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Transformer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0.711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0.748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66.3%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0.211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235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Logistic Reg.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0.684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0.769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65.1%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0.229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235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XGBoost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0.671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0.772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/>
                        <a:t>63.9%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rPr sz="900" dirty="0"/>
                        <a:t>0.242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3429000"/>
            <a:ext cx="41148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Optimisation &amp; Dynamique d'Entraînement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5900" y="1028700"/>
            <a:ext cx="6172200" cy="1664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1350"/>
          </a:p>
          <a:p>
            <a:pPr>
              <a:spcAft>
                <a:spcPts val="375"/>
              </a:spcAft>
              <a:defRPr sz="1600">
                <a:latin typeface="Times New Roman"/>
              </a:defRPr>
            </a:pPr>
            <a:r>
              <a:rPr sz="1200"/>
              <a:t>LightGBM (Optuna) :</a:t>
            </a:r>
          </a:p>
          <a:p>
            <a:pPr lvl="1">
              <a:spcAft>
                <a:spcPts val="375"/>
              </a:spcAft>
              <a:defRPr sz="1600">
                <a:latin typeface="Times New Roman"/>
              </a:defRPr>
            </a:pPr>
            <a:r>
              <a:rPr sz="1200"/>
              <a:t>•  Recherche efficace (50 essais).</a:t>
            </a:r>
          </a:p>
          <a:p>
            <a:pPr lvl="1">
              <a:spcAft>
                <a:spcPts val="375"/>
              </a:spcAft>
              <a:defRPr sz="1600">
                <a:latin typeface="Times New Roman"/>
              </a:defRPr>
            </a:pPr>
            <a:r>
              <a:rPr sz="1200"/>
              <a:t>•  Convergence vers paramètres robustes (n_est=318, lr=0.018).</a:t>
            </a:r>
          </a:p>
          <a:p>
            <a:pPr>
              <a:spcAft>
                <a:spcPts val="375"/>
              </a:spcAft>
              <a:defRPr sz="1600">
                <a:latin typeface="Times New Roman"/>
              </a:defRPr>
            </a:pPr>
            <a:r>
              <a:rPr sz="1200"/>
              <a:t>Dynamique Deep Learning :</a:t>
            </a:r>
          </a:p>
          <a:p>
            <a:pPr lvl="1">
              <a:spcAft>
                <a:spcPts val="375"/>
              </a:spcAft>
              <a:defRPr sz="1600">
                <a:latin typeface="Times New Roman"/>
              </a:defRPr>
            </a:pPr>
            <a:r>
              <a:rPr sz="1200"/>
              <a:t>•  GRU : Bonne baisse de loss training, légère instabilité en validation.</a:t>
            </a:r>
          </a:p>
          <a:p>
            <a:pPr lvl="1">
              <a:spcAft>
                <a:spcPts val="375"/>
              </a:spcAft>
              <a:defRPr sz="1600">
                <a:latin typeface="Times New Roman"/>
              </a:defRPr>
            </a:pPr>
            <a:r>
              <a:rPr sz="1200"/>
              <a:t>•  Transformer : Signes d'overfitting (Train Loss &lt;&lt; Val Loss).</a:t>
            </a:r>
          </a:p>
        </p:txBody>
      </p:sp>
      <p:pic>
        <p:nvPicPr>
          <p:cNvPr id="5" name="Picture 4" descr="lgbm_optimiz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028700"/>
            <a:ext cx="2857500" cy="1714500"/>
          </a:xfrm>
          <a:prstGeom prst="rect">
            <a:avLst/>
          </a:prstGeom>
        </p:spPr>
      </p:pic>
      <p:pic>
        <p:nvPicPr>
          <p:cNvPr id="6" name="Picture 5" descr="gru_training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86100"/>
            <a:ext cx="2857500" cy="1714500"/>
          </a:xfrm>
          <a:prstGeom prst="rect">
            <a:avLst/>
          </a:prstGeom>
        </p:spPr>
      </p:pic>
      <p:pic>
        <p:nvPicPr>
          <p:cNvPr id="7" name="Picture 6" descr="transformer_training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4900" y="3086100"/>
            <a:ext cx="2857500" cy="1714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Importance des Features &amp;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5900" y="1028700"/>
            <a:ext cx="6172200" cy="2254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1350"/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Meilleurs Prédicteurs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company_age : Les entreprises plus anciennes/stables convertissent mieux.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naf_code : Certains secteurs ont une affinité plus forte.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nb_client_invoices_created_sum : L'usage (Facturation) est le signal #1.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Insights Actionnables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L'Activation Compte : Une utilisation précoce (Jours 1-3) est critique.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Ciblage : Concentrer le CX sur les TPEs avec faible activité initiale.</a:t>
            </a:r>
          </a:p>
        </p:txBody>
      </p:sp>
      <p:pic>
        <p:nvPicPr>
          <p:cNvPr id="5" name="Picture 4" descr="xgb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880360"/>
            <a:ext cx="27432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Impact Business &amp; Recommandations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5900" y="1028700"/>
            <a:ext cx="6172200" cy="2541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1350"/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Impact Estimé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Cible : ~400 essais/mois.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Lift : +5-8% de conversion via intervention ciblée.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Valeur : 400 * 0.05 * 3k€ (LTV) = ~60k€/mois -&gt; 720k€/an.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Recommandations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Jours 1-3 (Automatisé) : Nudge si 'nb_connections' &lt; 2.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Jours 7-10 (Humain) : Appel CX si Prob. Désabonnement &gt; 60%.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Déploiement : A/B Test des interventions pour mesurer l'uplift réel.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Limitations &amp; Améliorations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5900" y="1028701"/>
            <a:ext cx="6172200" cy="2254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1350"/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Limitations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Faible Volume de Données : ~416 essais limitent le potentiel du Deep Learning.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Facteurs Externes : Pas de données sur le contexte économique ou la saisonnalité.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Améliorations Futures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Ensemble Hybride : Combiner LightGBM (Tabulaire) + GRU (Séquentiel).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Causal ML : Modéliser l'uplift (Persuadables vs Do-not-disturb).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Entraînement Continu : Réentraînement mensuel pour gérer le 'data drift'.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Conclusion &amp; Prochaines Étapes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5900" y="1028700"/>
            <a:ext cx="6172200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1350"/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Résumé :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Modèle robuste livré (LightGBM AUC 0.790).</a:t>
            </a:r>
          </a:p>
          <a:p>
            <a:pPr lvl="1">
              <a:spcAft>
                <a:spcPts val="750"/>
              </a:spcAft>
              <a:defRPr sz="1600">
                <a:latin typeface="Times New Roman"/>
              </a:defRPr>
            </a:pPr>
            <a:r>
              <a:rPr sz="1200"/>
              <a:t>•  Leviers identifiés pour un lift de conversion de +5-8%.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Prochaines Étapes :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   1. Déployer l'API de Scoring (Containerisée).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   2. Lancer l'A/B Test pour les actions CX.</a:t>
            </a:r>
          </a:p>
          <a:p>
            <a:pPr>
              <a:spcAft>
                <a:spcPts val="750"/>
              </a:spcAft>
              <a:defRPr sz="1800">
                <a:latin typeface="Times New Roman"/>
              </a:defRPr>
            </a:pPr>
            <a:r>
              <a:rPr sz="1350"/>
              <a:t>•    3. Monitorer la Performance (MLflow) &amp; Collecter plus de 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11</TotalTime>
  <Words>698</Words>
  <Application>Microsoft Macintosh PowerPoint</Application>
  <PresentationFormat>On-screen Show (16:9)</PresentationFormat>
  <Paragraphs>118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Prédiction de Conversion Trial-to-Paid</vt:lpstr>
      <vt:lpstr>Contexte Business &amp; Objectifs</vt:lpstr>
      <vt:lpstr>Vue d'Ensemble des Données &amp; Prétraitement</vt:lpstr>
      <vt:lpstr>Méthodologie &amp; Modèles</vt:lpstr>
      <vt:lpstr>Comparaison Globale des Résultats</vt:lpstr>
      <vt:lpstr>Optimisation &amp; Dynamique d'Entraînement</vt:lpstr>
      <vt:lpstr>Importance des Features &amp; Insights</vt:lpstr>
      <vt:lpstr>Impact Business &amp; Recommandations</vt:lpstr>
      <vt:lpstr>Limitations &amp; Améliorations</vt:lpstr>
      <vt:lpstr>Conclusion &amp; Prochaines Étapes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Paulino Cristovao</cp:lastModifiedBy>
  <cp:revision>5</cp:revision>
  <dcterms:created xsi:type="dcterms:W3CDTF">2013-01-27T09:14:16Z</dcterms:created>
  <dcterms:modified xsi:type="dcterms:W3CDTF">2025-12-10T01:31:57Z</dcterms:modified>
  <cp:category/>
</cp:coreProperties>
</file>