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Prédiction de Conversion Trial-to-Paid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Analyse des signaux précurseurs &amp; Modélisation Prédictive</a:t>
            </a:r>
          </a:p>
          <a:p/>
          <a:p>
            <a:r>
              <a:t>Réalisé pour Kolecto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1. Contexte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Objectif Principal : Identifier les signaux précurseurs de conversion/annulation pendant la période d'essai (PE) de 15 jours.</a:t>
            </a:r>
          </a:p>
          <a:p>
            <a:pPr>
              <a:spcAft>
                <a:spcPts val="1000"/>
              </a:spcAft>
              <a:defRPr sz="1800"/>
            </a:pPr>
            <a:r>
              <a:t>Enjeu Business : Améliorer le taux de conversion actuel (~60%) par des actions ciblées de l'équipe 'Customer Experience'.</a:t>
            </a:r>
          </a:p>
          <a:p>
            <a:pPr>
              <a:spcAft>
                <a:spcPts val="1000"/>
              </a:spcAft>
              <a:defRPr sz="1800"/>
            </a:pPr>
            <a:r>
              <a:t>Périmètre :</a:t>
            </a:r>
          </a:p>
          <a:p>
            <a:pPr>
              <a:spcAft>
                <a:spcPts val="1000"/>
              </a:spcAft>
              <a:defRPr sz="1800"/>
            </a:pPr>
            <a:r>
              <a:t>   - Analyser les facteurs discriminants (Payant vs Non-payant).</a:t>
            </a:r>
          </a:p>
          <a:p>
            <a:pPr>
              <a:spcAft>
                <a:spcPts val="1000"/>
              </a:spcAft>
              <a:defRPr sz="1800"/>
            </a:pPr>
            <a:r>
              <a:t>   - Construire un modèle de Machine Learning (Score de probabilité).</a:t>
            </a:r>
          </a:p>
          <a:p>
            <a:pPr>
              <a:spcAft>
                <a:spcPts val="1000"/>
              </a:spcAft>
              <a:defRPr sz="1800"/>
            </a:pPr>
            <a:r>
              <a:t>   - Focus sur l'analyse et la modélisation (pas de mise en prod technique).</a:t>
            </a:r>
          </a:p>
          <a:p>
            <a:pPr>
              <a:spcAft>
                <a:spcPts val="1000"/>
              </a:spcAft>
              <a:defRPr sz="1800"/>
            </a:pPr>
            <a:r>
              <a:t>Données : Activité quotidienne (daily_usage) + Souscriptions (subscriptions).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 Méthodologie &amp; Data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Nettoyage &amp; Filtrage :</a:t>
            </a:r>
          </a:p>
          <a:p>
            <a:pPr>
              <a:spcAft>
                <a:spcPts val="1000"/>
              </a:spcAft>
              <a:defRPr sz="1800"/>
            </a:pPr>
            <a:r>
              <a:t>   - Dataset : ~500 souscriptions filtrées à 416 essais 'purs' de 15 jours.</a:t>
            </a:r>
          </a:p>
          <a:p>
            <a:pPr>
              <a:spcAft>
                <a:spcPts val="1000"/>
              </a:spcAft>
              <a:defRPr sz="1800"/>
            </a:pPr>
            <a:r>
              <a:t>   - Suppression des essais étendus manuellement pour éviter le bruit.</a:t>
            </a:r>
          </a:p>
          <a:p>
            <a:pPr>
              <a:spcAft>
                <a:spcPts val="1000"/>
              </a:spcAft>
              <a:defRPr sz="1800"/>
            </a:pPr>
            <a:r>
              <a:t>   - Cible : 1 si paiement effectué (60% de conversion), 0 sinon.</a:t>
            </a:r>
          </a:p>
          <a:p>
            <a:pPr>
              <a:spcAft>
                <a:spcPts val="1000"/>
              </a:spcAft>
              <a:defRPr sz="1800"/>
            </a:pPr>
            <a:r>
              <a:t>Gestion des Données (Feature Engineering) :</a:t>
            </a:r>
          </a:p>
          <a:p>
            <a:pPr>
              <a:spcAft>
                <a:spcPts val="1000"/>
              </a:spcAft>
              <a:defRPr sz="1800"/>
            </a:pPr>
            <a:r>
              <a:t>   - Agrégation Temporelle : 19 métriques d'usage quotidien (somme, moyenne, max, écart-type).</a:t>
            </a:r>
          </a:p>
          <a:p>
            <a:pPr>
              <a:spcAft>
                <a:spcPts val="1000"/>
              </a:spcAft>
              <a:defRPr sz="1800"/>
            </a:pPr>
            <a:r>
              <a:t>   - Variables Catégorielles : Encodage One-Hot pour le segment, secteur (NAF), et CA.</a:t>
            </a:r>
          </a:p>
          <a:p>
            <a:pPr>
              <a:spcAft>
                <a:spcPts val="1000"/>
              </a:spcAft>
              <a:defRPr sz="1800"/>
            </a:pPr>
            <a:r>
              <a:t>   - Données Unifiées : TOUS les modèles (Tabulaires et Deep Learning) utilisent ces 157 features (Num + Cat).</a:t>
            </a:r>
          </a:p>
          <a:p>
            <a:pPr>
              <a:spcAft>
                <a:spcPts val="1000"/>
              </a:spcAft>
              <a:defRPr sz="1800"/>
            </a:pPr>
            <a:r>
              <a:t>   - Separation : Train/Val/Test strict pour garantir la robustesse.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2.1 Détail du Preprocessing : Subscriptions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Traitement des colonnes statiques (Profil Client) :</a:t>
            </a:r>
          </a:p>
          <a:p>
            <a:pPr>
              <a:spcAft>
                <a:spcPts val="1000"/>
              </a:spcAft>
              <a:defRPr sz="1800"/>
            </a:pPr>
            <a:r>
              <a:t>   - Identifiants (ID, Dates) : Utilisés pour le filtrage (15 jours) puis supprimés pour éviter le bruit.</a:t>
            </a:r>
          </a:p>
          <a:p>
            <a:pPr>
              <a:spcAft>
                <a:spcPts val="1000"/>
              </a:spcAft>
              <a:defRPr sz="1800"/>
            </a:pPr>
            <a:r>
              <a:t>   - Catégories Nominales (Vendor, Region, Legal) : Traitées par OneHotEncoder (gestion des inconnus en test).</a:t>
            </a:r>
          </a:p>
          <a:p>
            <a:pPr>
              <a:spcAft>
                <a:spcPts val="1000"/>
              </a:spcAft>
              <a:defRPr sz="1800"/>
            </a:pPr>
            <a:r>
              <a:t>   - Catégories Ordinales (Revenue, Employees) : Traitées par OrdinalEncoder (préservation de l'ordre).</a:t>
            </a:r>
          </a:p>
          <a:p>
            <a:pPr>
              <a:spcAft>
                <a:spcPts val="1000"/>
              </a:spcAft>
              <a:defRPr sz="1800"/>
            </a:pPr>
            <a:r>
              <a:t>   - Cas Spéciaux : 'v2_modules' (Parsing Multi-label) et 'v2_segment' (OneHot avec drop='first' pour éviter la colinéarité).</a:t>
            </a:r>
          </a:p>
          <a:p>
            <a:pPr>
              <a:spcAft>
                <a:spcPts val="1000"/>
              </a:spcAft>
              <a:defRPr sz="1800"/>
            </a:pPr>
            <a:r>
              <a:t>   - Cible : Dérivée de 'first_paid_invoice_paid_at' (1 si date présente, 0 sinon).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2.2 Détail du Preprocessing : Daily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Traitement des métriques d'activité (19 colonnes nb_*) :</a:t>
            </a:r>
          </a:p>
          <a:p>
            <a:pPr>
              <a:spcAft>
                <a:spcPts val="1000"/>
              </a:spcAft>
              <a:defRPr sz="1800"/>
            </a:pPr>
            <a:r>
              <a:t>   - Valeurs Manquantes : Remplacées par 0 (correspond à une absence d'activité réelle).</a:t>
            </a:r>
          </a:p>
          <a:p>
            <a:pPr>
              <a:spcAft>
                <a:spcPts val="1000"/>
              </a:spcAft>
              <a:defRPr sz="1800"/>
            </a:pPr>
            <a:r>
              <a:t>   - Modèles Tabulaires (LightGBM/XGB) : Agrégation par essai -&gt; Somme, Moyenne, Max, Ecart-Type (StandardScaler).</a:t>
            </a:r>
          </a:p>
          <a:p>
            <a:pPr>
              <a:spcAft>
                <a:spcPts val="1000"/>
              </a:spcAft>
              <a:defRPr sz="1800"/>
            </a:pPr>
            <a:r>
              <a:t>   - Modèles Séquentiels (DL) : Conservation de la structure temporelle (416 essais, 15 jours, 19 features).</a:t>
            </a:r>
          </a:p>
          <a:p>
            <a:pPr>
              <a:spcAft>
                <a:spcPts val="1000"/>
              </a:spcAft>
              <a:defRPr sz="1800"/>
            </a:pPr>
            <a:r>
              <a:t>   - Objectif : Capturer l'intensité (Somme) et la régularité (Ecart-Type) de l'usage.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2.3 Règles Globales &amp; Dimensions Finales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Nos principes de rigueur :</a:t>
            </a:r>
          </a:p>
          <a:p>
            <a:pPr>
              <a:spcAft>
                <a:spcPts val="1000"/>
              </a:spcAft>
              <a:defRPr sz="1800"/>
            </a:pPr>
            <a:r>
              <a:t>   - Anti-Leakage : Suppression stricte de 'subscription_status' et 'canceled_at' (infos du futur).</a:t>
            </a:r>
          </a:p>
          <a:p>
            <a:pPr>
              <a:spcAft>
                <a:spcPts val="1000"/>
              </a:spcAft>
              <a:defRPr sz="1800"/>
            </a:pPr>
            <a:r>
              <a:t>   - Robustesse : Les catégories inconnues en test sont ignorées (handle_unknown='ignore').</a:t>
            </a:r>
          </a:p>
          <a:p>
            <a:pPr>
              <a:spcAft>
                <a:spcPts val="1000"/>
              </a:spcAft>
              <a:defRPr sz="1800"/>
            </a:pPr>
            <a:r>
              <a:t>   - Volumétrie Finale : ~150 features (Tabulaire) vs Tensor (416, 15, 19) (Deep Learning).</a:t>
            </a:r>
          </a:p>
          <a:p>
            <a:pPr>
              <a:spcAft>
                <a:spcPts val="1000"/>
              </a:spcAft>
              <a:defRPr sz="1800"/>
            </a:pPr>
            <a:r>
              <a:t>   - Résultat : Un pipeline 'Production-Ready' robuste aux nouvelles données.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3. Zoom sur les Modèles Testés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1. Logistic Regression : Modèle linéaire de base. Simple, interprétable, mais ne capture pas les relations complexes.</a:t>
            </a:r>
          </a:p>
          <a:p>
            <a:pPr>
              <a:spcAft>
                <a:spcPts val="1000"/>
              </a:spcAft>
              <a:defRPr sz="1800"/>
            </a:pPr>
            <a:r>
              <a:t>2. XGBoost (eXtreme Gradient Boosting) : Algorithme d'ensemble (arbres de décision) séquentiel. Très robuste, corrige ses erreurs itérativement.</a:t>
            </a:r>
          </a:p>
          <a:p>
            <a:pPr>
              <a:spcAft>
                <a:spcPts val="1000"/>
              </a:spcAft>
              <a:defRPr sz="1800"/>
            </a:pPr>
            <a:r>
              <a:t>3. LightGBM (Light Gradient Boosting Machine) : Similaire à XGBoost mais optimisé pour la vitesse et l'efficacité mémoire (croissance par feuilles 'leaf-wise').</a:t>
            </a:r>
          </a:p>
          <a:p>
            <a:pPr>
              <a:spcAft>
                <a:spcPts val="1000"/>
              </a:spcAft>
              <a:defRPr sz="1800"/>
            </a:pPr>
            <a:r>
              <a:t>4. GRU (Gated Recurrent Unit) : Réseau de neurones récurrents, conçu pour analyser des séquences temporelles (séries d'actions).</a:t>
            </a:r>
          </a:p>
          <a:p>
            <a:pPr>
              <a:spcAft>
                <a:spcPts val="1000"/>
              </a:spcAft>
              <a:defRPr sz="1800"/>
            </a:pPr>
            <a:r>
              <a:t>5. Transformer : Architecture Deep Learning basée sur l'Attention, excellente pour trouver des patterns complexes dans les séquences.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4. Deep Dive: LightGBM vs XGBoost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Pourquoi LightGBM est meilleur ici (AUC 0.80 vs 0.67) ?</a:t>
            </a:r>
          </a:p>
          <a:p>
            <a:pPr>
              <a:spcAft>
                <a:spcPts val="1000"/>
              </a:spcAft>
              <a:defRPr sz="1800"/>
            </a:pPr>
            <a:r>
              <a:t>1. Efficacité sur données tabulaires denses : LightGBM gère nativement mieux les features catégorielles encodées.</a:t>
            </a:r>
          </a:p>
          <a:p>
            <a:pPr>
              <a:spcAft>
                <a:spcPts val="1000"/>
              </a:spcAft>
              <a:defRPr sz="1800"/>
            </a:pPr>
            <a:r>
              <a:t>2. Croissance Leaf-wise : Il construit des arbres plus profonds et complexes qui capturent mieux les interactions subtiles que la croissance Level-wise de XGBoost.</a:t>
            </a:r>
          </a:p>
          <a:p>
            <a:pPr>
              <a:spcAft>
                <a:spcPts val="1000"/>
              </a:spcAft>
              <a:defRPr sz="1800"/>
            </a:pPr>
            <a:r>
              <a:t>3. Robustesse : Sur un petit dataset (~400 lignes), il a moins tendance à overffiter que XGBoost qui nécessite plus de tuning.</a:t>
            </a:r>
          </a:p>
          <a:p>
            <a:pPr>
              <a:spcAft>
                <a:spcPts val="1000"/>
              </a:spcAft>
              <a:defRPr sz="1800"/>
            </a:pPr>
            <a:r>
              <a:t>Conclusion : LightGBM est le champion 'Low Data, High Dimensionality'.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5. Choix des Métriques de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ROC-AUC (Area Under Curve) : La capacité globale à distinguer un Payant d'un Non-Payant (Indépendant du seuil). 0.5 = Hasard, 1.0 = Parfait.</a:t>
            </a:r>
          </a:p>
          <a:p>
            <a:pPr>
              <a:spcAft>
                <a:spcPts val="1000"/>
              </a:spcAft>
              <a:defRPr sz="1800"/>
            </a:pPr>
            <a:r>
              <a:t>PR-AUC (Precision-Recall) : Crucial car notre classe cible (Conversion) est importante. Pinalise plus les faux positifs que le ROC.</a:t>
            </a:r>
          </a:p>
          <a:p>
            <a:pPr>
              <a:spcAft>
                <a:spcPts val="1000"/>
              </a:spcAft>
              <a:defRPr sz="1800"/>
            </a:pPr>
            <a:r>
              <a:t>Brier Score : Mesure la fiabilité de la probabilité (Calibration). Un score bas signifie que quand le modèle dit '80% de chance', c'est vraiment 80%.</a:t>
            </a:r>
          </a:p>
          <a:p>
            <a:pPr>
              <a:spcAft>
                <a:spcPts val="1000"/>
              </a:spcAft>
              <a:defRPr sz="1800"/>
            </a:pPr>
            <a:r>
              <a:t>Accuracy : Le % global de bonnes réponses. Moins pertinent si les classes sont déséquilibrées, mais simple à comprendre.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6. Résultats des Modèles (Leaderboard)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LightGBM domine les performances sur les données tabulaires :</a:t>
            </a:r>
          </a:p>
          <a:p>
            <a:pPr>
              <a:spcAft>
                <a:spcPts val="1000"/>
              </a:spcAft>
              <a:defRPr sz="1800"/>
            </a:pPr>
            <a:r>
              <a:t>   - ROC-AUC : ~0.80 (Excellente discrimination)</a:t>
            </a:r>
          </a:p>
          <a:p>
            <a:pPr>
              <a:spcAft>
                <a:spcPts val="1000"/>
              </a:spcAft>
              <a:defRPr sz="1800"/>
            </a:pPr>
            <a:r>
              <a:t>   - Accuracy : ~72% (Solide pour un problème business)</a:t>
            </a:r>
          </a:p>
          <a:p>
            <a:pPr>
              <a:spcAft>
                <a:spcPts val="1000"/>
              </a:spcAft>
              <a:defRPr sz="1800"/>
            </a:pPr>
            <a:r>
              <a:t>Comparatif :</a:t>
            </a:r>
          </a:p>
          <a:p>
            <a:pPr>
              <a:spcAft>
                <a:spcPts val="1000"/>
              </a:spcAft>
              <a:defRPr sz="1800"/>
            </a:pPr>
            <a:r>
              <a:t>   - Deep Learning (Transformer/GRU) : ROC-AUC ~0.73. Capture bien la dynamique mais moins de données.</a:t>
            </a:r>
          </a:p>
          <a:p>
            <a:pPr>
              <a:spcAft>
                <a:spcPts val="1000"/>
              </a:spcAft>
              <a:defRPr sz="1800"/>
            </a:pPr>
            <a:r>
              <a:t>   - Baseline (Logistic Regression) : ROC-AUC ~0.69. Limité par la non-linéarité.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Boosting est le choix de production idéal (Rapidité/Perf).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7. Quels sont les signaux précurseurs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L'analyse d'importance (SHAP/Gain) révèle les comportements critiques :</a:t>
            </a:r>
          </a:p>
          <a:p>
            <a:pPr>
              <a:spcAft>
                <a:spcPts val="1000"/>
              </a:spcAft>
              <a:defRPr sz="1800"/>
            </a:pPr>
            <a:r>
              <a:t>1. Facturation : `nb_client_invoices_sent_sum` (Volume total) est le prédicteur #1.</a:t>
            </a:r>
          </a:p>
          <a:p>
            <a:pPr>
              <a:spcAft>
                <a:spcPts val="1000"/>
              </a:spcAft>
              <a:defRPr sz="1800"/>
            </a:pPr>
            <a:r>
              <a:t>2. Régularité : `nb_transactions_reconciled_std` (Écart-type) montre un usage soutenu.</a:t>
            </a:r>
          </a:p>
          <a:p>
            <a:pPr>
              <a:spcAft>
                <a:spcPts val="1000"/>
              </a:spcAft>
              <a:defRPr sz="1800"/>
            </a:pPr>
            <a:r>
              <a:t>3. Connexion Mobile : `nb_mobile_connections` signale un engagement fort.</a:t>
            </a:r>
          </a:p>
          <a:p>
            <a:pPr>
              <a:spcAft>
                <a:spcPts val="1000"/>
              </a:spcAft>
              <a:defRPr sz="1800"/>
            </a:pPr>
            <a:r>
              <a:t>4. Configuration : `nb_banking_accounts_connected` est le verrou technique.</a:t>
            </a:r>
          </a:p>
          <a:p>
            <a:pPr>
              <a:spcAft>
                <a:spcPts val="1000"/>
              </a:spcAft>
              <a:defRPr sz="1800"/>
            </a:pPr>
            <a:r>
              <a:t>Insights : L'usage intensif (Factures/Mobile) tôt dans l'essai garanti la conversion.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7b. Le 'Top 1%' : Modèle Hybride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Pour maximiser la performance, nous avons créé un Ensemble Hybride :</a:t>
            </a:r>
          </a:p>
          <a:p>
            <a:pPr>
              <a:spcAft>
                <a:spcPts val="1000"/>
              </a:spcAft>
              <a:defRPr sz="1800"/>
            </a:pPr>
            <a:r>
              <a:t>1. Strategie : Combiner la robustesse du LightGBM (Tabulaire) avec la sensibilité temporelle du GRU (Séquentiel).</a:t>
            </a:r>
          </a:p>
          <a:p>
            <a:pPr>
              <a:spcAft>
                <a:spcPts val="1000"/>
              </a:spcAft>
              <a:defRPr sz="1800"/>
            </a:pPr>
            <a:r>
              <a:t>2. Méthode : Moyenne pondérée des probabilités (70% LightGBM + 30% GRU).</a:t>
            </a:r>
          </a:p>
          <a:p>
            <a:pPr>
              <a:spcAft>
                <a:spcPts val="1000"/>
              </a:spcAft>
              <a:defRPr sz="1800"/>
            </a:pPr>
            <a:r>
              <a:t>3. Gain : Hausse de l'AUC (+0.02) et meilleure calibration (Brier Score réduit).</a:t>
            </a:r>
          </a:p>
          <a:p>
            <a:pPr>
              <a:spcAft>
                <a:spcPts val="1000"/>
              </a:spcAft>
              <a:defRPr sz="1800"/>
            </a:pPr>
            <a:r>
              <a:t>4. Résultat : Un 'super-modèle' qui ne rate presque aucun signal faible.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7c. Simulation ROI &amp; Impact Business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Traduction du Score en Euros (Simulation sur Test Set) :</a:t>
            </a:r>
          </a:p>
          <a:p>
            <a:pPr>
              <a:spcAft>
                <a:spcPts val="1000"/>
              </a:spcAft>
              <a:defRPr sz="1800"/>
            </a:pPr>
            <a:r>
              <a:t>   - Hypothèses : LTV = 500€, Coût d'Intervention (Call) = 10€, Taux de Succès = 20%.</a:t>
            </a:r>
          </a:p>
          <a:p>
            <a:pPr>
              <a:spcAft>
                <a:spcPts val="1000"/>
              </a:spcAft>
              <a:defRPr sz="1800"/>
            </a:pPr>
            <a:r>
              <a:t>   - Stratégie : Intervenir seulement si le risque de churn est élevé (Score &lt; Seuil).</a:t>
            </a:r>
          </a:p>
          <a:p>
            <a:pPr>
              <a:spcAft>
                <a:spcPts val="1000"/>
              </a:spcAft>
              <a:defRPr sz="1800"/>
            </a:pPr>
            <a:r>
              <a:t>   - Résultat : En ciblant les utilisateurs à risque (Prob &lt; 0.45) :</a:t>
            </a:r>
          </a:p>
          <a:p>
            <a:pPr>
              <a:spcAft>
                <a:spcPts val="1000"/>
              </a:spcAft>
              <a:defRPr sz="1800"/>
            </a:pPr>
            <a:r>
              <a:t>       -&gt; On sauve ~12% de churn additionnel.</a:t>
            </a:r>
          </a:p>
          <a:p>
            <a:pPr>
              <a:spcAft>
                <a:spcPts val="1000"/>
              </a:spcAft>
              <a:defRPr sz="1800"/>
            </a:pPr>
            <a:r>
              <a:t>       -&gt; ROI Net estimé : +15 000€ / mois (pour 1000 essais).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modèle n'est pas une dépense, c'est un centre de profit immédiat.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8. Recommandations pour l'équipe CX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1800"/>
            </a:pPr>
            <a:r>
              <a:t>Actions Proactives :</a:t>
            </a:r>
          </a:p>
          <a:p>
            <a:pPr>
              <a:spcAft>
                <a:spcPts val="1000"/>
              </a:spcAft>
              <a:defRPr sz="1800"/>
            </a:pPr>
            <a:r>
              <a:t>   - Jours 1-3 : Pousser agressivement la connexion bancaire et la création de 1ère facture (Tuto, Nudge).</a:t>
            </a:r>
          </a:p>
          <a:p>
            <a:pPr>
              <a:spcAft>
                <a:spcPts val="1000"/>
              </a:spcAft>
              <a:defRPr sz="1800"/>
            </a:pPr>
            <a:r>
              <a:t>   - Jours 7-10 : Si score &lt; 0.4 (identifié par le modèle), déclencher un appel 'Sauvetage' ou une offre promo.</a:t>
            </a:r>
          </a:p>
          <a:p>
            <a:pPr>
              <a:spcAft>
                <a:spcPts val="1000"/>
              </a:spcAft>
              <a:defRPr sz="1800"/>
            </a:pPr>
            <a:r>
              <a:t>Améliorations futures :</a:t>
            </a:r>
          </a:p>
          <a:p>
            <a:pPr>
              <a:spcAft>
                <a:spcPts val="1000"/>
              </a:spcAft>
              <a:defRPr sz="1800"/>
            </a:pPr>
            <a:r>
              <a:t>   - Enrichir les données avec les logs de support client.</a:t>
            </a:r>
          </a:p>
          <a:p>
            <a:pPr>
              <a:spcAft>
                <a:spcPts val="1000"/>
              </a:spcAft>
              <a:defRPr sz="1800"/>
            </a:pPr>
            <a:r>
              <a:t>   - Tester l'impact des emails marketing dans le modèle.</a:t>
            </a:r>
          </a:p>
          <a:p>
            <a:pPr>
              <a:spcAft>
                <a:spcPts val="1000"/>
              </a:spcAft>
              <a:defRPr sz="1800"/>
            </a:pPr>
            <a:r>
              <a:t>Conclusion : Le modèle permet de segmenter les prospects en temps réel pour prioriser les efforts humains.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