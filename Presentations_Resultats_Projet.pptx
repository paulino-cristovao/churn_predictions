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Prédiction de Conversion Trial-to-Paid :</a:t>
            </a:r>
          </a:p>
          <a:p>
            <a:r>
              <a:t>Insights Data-Driven pour Kolecto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Améliorer le taux de conversion de ~60% via l'analyse des signaux précurseurs et le Machine Learning</a:t>
            </a:r>
          </a:p>
          <a:p/>
          <a:p>
            <a:r>
              <a:t>Antigravity Agent – 2025-12-10</a:t>
            </a:r>
          </a:p>
        </p:txBody>
      </p:sp>
      <p:pic>
        <p:nvPicPr>
          <p:cNvPr id="4" name="Picture 3" descr="kolect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Business &amp;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Contexte :</a:t>
            </a:r>
          </a:p>
          <a:p>
            <a:pPr lvl="1">
              <a:defRPr sz="1800"/>
            </a:pPr>
            <a:r>
              <a:t>Kolecto propose un essai gratuit de 15 jours -&gt; Abonnement payant.</a:t>
            </a:r>
          </a:p>
          <a:p>
            <a:pPr lvl="1">
              <a:defRPr sz="1800"/>
            </a:pPr>
            <a:r>
              <a:t>Taux de conversion actuel : ~60% (Satisfaisant mais perfectible).</a:t>
            </a:r>
          </a:p>
          <a:p>
            <a:pPr>
              <a:defRPr sz="1800"/>
            </a:pPr>
            <a:r>
              <a:t>Challenge :</a:t>
            </a:r>
          </a:p>
          <a:p>
            <a:pPr lvl="1">
              <a:defRPr sz="1800"/>
            </a:pPr>
            <a:r>
              <a:t>Identifier les signaux précurseurs de succès ou de désabonnement.</a:t>
            </a:r>
          </a:p>
          <a:p>
            <a:pPr lvl="1">
              <a:defRPr sz="1800"/>
            </a:pPr>
            <a:r>
              <a:t>Permettre des actions ciblées par l'équipe Customer Experience (CX).</a:t>
            </a:r>
          </a:p>
          <a:p>
            <a:pPr>
              <a:defRPr sz="1800"/>
            </a:pPr>
            <a:r>
              <a:t>Objectifs :</a:t>
            </a:r>
          </a:p>
          <a:p>
            <a:pPr lvl="1">
              <a:defRPr sz="1800"/>
            </a:pPr>
            <a:r>
              <a:t>Analyser les facteurs différenciants (Convertis vs Non-Convertis).</a:t>
            </a:r>
          </a:p>
          <a:p>
            <a:pPr lvl="1">
              <a:defRPr sz="1800"/>
            </a:pPr>
            <a:r>
              <a:t>Construire un modèle ML pour prédire la probabilité de conversion.</a:t>
            </a:r>
          </a:p>
          <a:p>
            <a:pPr>
              <a:defRPr sz="1800"/>
            </a:pPr>
            <a:r>
              <a:t>Approche :</a:t>
            </a:r>
          </a:p>
          <a:p>
            <a:pPr lvl="1">
              <a:defRPr sz="1800"/>
            </a:pPr>
            <a:r>
              <a:t>Analyse d'Activité (Daily Usage) + Profil (Subscriptions).</a:t>
            </a:r>
          </a:p>
          <a:p>
            <a:pPr lvl="1">
              <a:defRPr sz="1800"/>
            </a:pPr>
            <a:r>
              <a:t>Focus sur des insights actionnables.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Données &amp; Prétraitement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Jeux de Données :</a:t>
            </a:r>
          </a:p>
          <a:p>
            <a:pPr lvl="1">
              <a:defRPr sz="1800"/>
            </a:pPr>
            <a:r>
              <a:t>Daily Usage (~11k lignes) : Logs d'activité (Virements, Connexions, Factures). Agrégés par essai (Somme/Moyenne/Max/Std).</a:t>
            </a:r>
          </a:p>
          <a:p>
            <a:pPr lvl="1">
              <a:defRPr sz="1800"/>
            </a:pPr>
            <a:r>
              <a:t>Subscriptions (~416 essais) : Firmographie (CA, Code NAF). Filtré sur les essais de 15 jours exacts.</a:t>
            </a:r>
          </a:p>
          <a:p>
            <a:pPr>
              <a:defRPr sz="1800"/>
            </a:pPr>
            <a:r>
              <a:t>Statistiques Clés :</a:t>
            </a:r>
          </a:p>
          <a:p>
            <a:pPr lvl="1">
              <a:defRPr sz="1800"/>
            </a:pPr>
            <a:r>
              <a:t>Échantillons Total : 416 essais complets.</a:t>
            </a:r>
          </a:p>
          <a:p>
            <a:pPr lvl="1">
              <a:defRPr sz="1800"/>
            </a:pPr>
            <a:r>
              <a:t>Taux de Conversion : 60.7% (Déséquilibré, mais gérable).</a:t>
            </a:r>
          </a:p>
          <a:p>
            <a:pPr>
              <a:defRPr sz="1800"/>
            </a:pPr>
            <a:r>
              <a:t>Prétraitement :</a:t>
            </a:r>
          </a:p>
          <a:p>
            <a:pPr lvl="1">
              <a:defRPr sz="1800"/>
            </a:pPr>
            <a:r>
              <a:t>Fusion Usage + Subscriptions.</a:t>
            </a:r>
          </a:p>
          <a:p>
            <a:pPr lvl="1">
              <a:defRPr sz="1800"/>
            </a:pPr>
            <a:r>
              <a:t>Gestion des valeurs manquantes et inactivité.</a:t>
            </a:r>
          </a:p>
          <a:p>
            <a:pPr lvl="1">
              <a:defRPr sz="1800"/>
            </a:pPr>
            <a:r>
              <a:t>Encodage (OneHot/Ordinal) &amp; Standardisation.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 &amp;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Stratégie de Features :</a:t>
            </a:r>
          </a:p>
          <a:p>
            <a:pPr lvl="1">
              <a:defRPr sz="1800"/>
            </a:pPr>
            <a:r>
              <a:t>Tabulaire : Features agrégées (157 dims) pour modèles Arborescents.</a:t>
            </a:r>
          </a:p>
          <a:p>
            <a:pPr lvl="1">
              <a:defRPr sz="1800"/>
            </a:pPr>
            <a:r>
              <a:t>Séquentiel : Séries temporelles (15 jours) pour Deep Learning.</a:t>
            </a:r>
          </a:p>
          <a:p>
            <a:pPr>
              <a:defRPr sz="1800"/>
            </a:pPr>
            <a:r>
              <a:t>Modèles Entraînés :</a:t>
            </a:r>
          </a:p>
          <a:p>
            <a:pPr lvl="1">
              <a:defRPr sz="1800"/>
            </a:pPr>
            <a:r>
              <a:t>Logistic Regression : Baseline linéaire simple.</a:t>
            </a:r>
          </a:p>
          <a:p>
            <a:pPr lvl="1">
              <a:defRPr sz="1800"/>
            </a:pPr>
            <a:r>
              <a:t>XGBoost &amp; LightGBM : Gradient Boosting avec tuning Optuna.</a:t>
            </a:r>
          </a:p>
          <a:p>
            <a:pPr lvl="1">
              <a:defRPr sz="1800"/>
            </a:pPr>
            <a:r>
              <a:t>GRU &amp; Transformer : Deep Learning pour motifs temporels.</a:t>
            </a:r>
          </a:p>
          <a:p>
            <a:pPr>
              <a:defRPr sz="1800"/>
            </a:pPr>
            <a:r>
              <a:t>Métriques d'Évaluation :</a:t>
            </a:r>
          </a:p>
          <a:p>
            <a:pPr lvl="1">
              <a:defRPr sz="1800"/>
            </a:pPr>
            <a:r>
              <a:t>ROC-AUC : Capacité de discrimination.</a:t>
            </a:r>
          </a:p>
          <a:p>
            <a:pPr lvl="1">
              <a:defRPr sz="1800"/>
            </a:pPr>
            <a:r>
              <a:t>PR-AUC : Précision-Rappel (Critique pour l'imbalance).</a:t>
            </a:r>
          </a:p>
          <a:p>
            <a:pPr lvl="1">
              <a:defRPr sz="1800"/>
            </a:pPr>
            <a:r>
              <a:t>Brier Score : Calibration des probabilités.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des Résultats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defRPr sz="1800"/>
            </a:pPr>
            <a:r>
              <a:t>Champion : LightGBM</a:t>
            </a:r>
          </a:p>
          <a:p>
            <a:pPr lvl="1">
              <a:defRPr sz="1800"/>
            </a:pPr>
            <a:r>
              <a:t>ROC-AUC : 0.790 (Meilleure Discrimination)</a:t>
            </a:r>
          </a:p>
          <a:p>
            <a:pPr lvl="1">
              <a:defRPr sz="1800"/>
            </a:pPr>
            <a:r>
              <a:t>PR-AUC : 0.835 (Haute Précision)</a:t>
            </a:r>
          </a:p>
          <a:p>
            <a:pPr lvl="1">
              <a:defRPr sz="1800"/>
            </a:pPr>
            <a:r>
              <a:t>Accuracy : 72.3%</a:t>
            </a:r>
          </a:p>
          <a:p>
            <a:pPr lvl="1">
              <a:defRPr sz="1800"/>
            </a:pPr>
            <a:r>
              <a:t>Brier : 0.193 (Bien calibré)</a:t>
            </a:r>
          </a:p>
          <a:p>
            <a:pPr>
              <a:defRPr sz="1800"/>
            </a:pPr>
            <a:r>
              <a:t>Runner Up : GRU</a:t>
            </a:r>
          </a:p>
          <a:p>
            <a:pPr lvl="1">
              <a:defRPr sz="1800"/>
            </a:pPr>
            <a:r>
              <a:t>ROC-AUC : 0.713. Capture le signal temporel mais limité par la taille des données.</a:t>
            </a:r>
          </a:p>
          <a:p>
            <a:pPr>
              <a:defRPr sz="1800"/>
            </a:pPr>
            <a:r>
              <a:t>Baseline :</a:t>
            </a:r>
          </a:p>
          <a:p>
            <a:pPr lvl="1">
              <a:defRPr sz="1800"/>
            </a:pPr>
            <a:r>
              <a:t>Transformer (0.711) - Bon potentiel mais nécessite plus de données.</a:t>
            </a:r>
          </a:p>
          <a:p>
            <a:pPr lvl="1">
              <a:defRPr sz="1800"/>
            </a:pPr>
            <a:r>
              <a:t>Logistic Regression (0.684).</a:t>
            </a:r>
          </a:p>
          <a:p>
            <a:pPr>
              <a:defRPr sz="1800"/>
            </a:pPr>
            <a:r>
              <a:t>Conclusion : LightGBM gère mieux les données tabulaires haute dimension.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12344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Optimisation &amp; Dynamique d'Entraînement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defRPr sz="1800"/>
            </a:pPr>
            <a:r>
              <a:t>LightGBM (Optuna) :</a:t>
            </a:r>
          </a:p>
          <a:p>
            <a:pPr lvl="1">
              <a:defRPr sz="1800"/>
            </a:pPr>
            <a:r>
              <a:t>Recherche efficace (50 essais).</a:t>
            </a:r>
          </a:p>
          <a:p>
            <a:pPr lvl="1">
              <a:defRPr sz="1800"/>
            </a:pPr>
            <a:r>
              <a:t>Convergence vers paramètres robustes (n_est=318, lr=0.018).</a:t>
            </a:r>
          </a:p>
          <a:p>
            <a:pPr>
              <a:defRPr sz="1800"/>
            </a:pPr>
            <a:r>
              <a:t>Dynamique Deep Learning :</a:t>
            </a:r>
          </a:p>
          <a:p>
            <a:pPr lvl="1">
              <a:defRPr sz="1800"/>
            </a:pPr>
            <a:r>
              <a:t>GRU : Bonne baisse de loss training, mais validation instable.</a:t>
            </a:r>
          </a:p>
          <a:p>
            <a:pPr lvl="1">
              <a:defRPr sz="1800"/>
            </a:pPr>
            <a:r>
              <a:t>Transformer : Signes d'overfitting (Écart train/val).</a:t>
            </a:r>
          </a:p>
          <a:p>
            <a:pPr lvl="1">
              <a:defRPr sz="1800"/>
            </a:pPr>
            <a:r>
              <a:t>Leçon : Les modèles profonds nécessitent plus de données (10k+) pour battre les arbres ici.</a:t>
            </a:r>
          </a:p>
        </p:txBody>
      </p:sp>
      <p:pic>
        <p:nvPicPr>
          <p:cNvPr id="4" name="Picture 3" descr="lgbm_optimiza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des Features &amp; Signaux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defRPr sz="1800"/>
            </a:pPr>
            <a:r>
              <a:t>Meilleurs Prédicteurs (LightGBM/XGBoost) :</a:t>
            </a:r>
          </a:p>
          <a:p>
            <a:pPr lvl="1">
              <a:defRPr sz="1800"/>
            </a:pPr>
            <a:r>
              <a:t>company_age : Les entreprises plus anciennes/stables convertissent mieux.</a:t>
            </a:r>
          </a:p>
          <a:p>
            <a:pPr lvl="1">
              <a:defRPr sz="1800"/>
            </a:pPr>
            <a:r>
              <a:t>naf_code : Certains secteurs ont une affinité plus forte.</a:t>
            </a:r>
          </a:p>
          <a:p>
            <a:pPr lvl="1">
              <a:defRPr sz="1800"/>
            </a:pPr>
            <a:r>
              <a:t>nb_client_invoices_created_sum : L'usage actif (Facturation) est le signal #1.</a:t>
            </a:r>
          </a:p>
          <a:p>
            <a:pPr>
              <a:defRPr sz="1800"/>
            </a:pPr>
            <a:r>
              <a:t>Insights :</a:t>
            </a:r>
          </a:p>
          <a:p>
            <a:pPr lvl="1">
              <a:defRPr sz="1800"/>
            </a:pPr>
            <a:r>
              <a:t>L'Activation compte : Facturer ou connecter une banque tôt garantit la conversion.</a:t>
            </a:r>
          </a:p>
          <a:p>
            <a:pPr lvl="1">
              <a:defRPr sz="1800"/>
            </a:pPr>
            <a:r>
              <a:t>Alerte 'Faible Activité' : &lt; 2 connexions mobiles au Jour 3 = Risque x3.</a:t>
            </a:r>
          </a:p>
          <a:p>
            <a:pPr lvl="1">
              <a:defRPr sz="1800"/>
            </a:pPr>
            <a:r>
              <a:t>Ciblage : Concentrer le CX sur les TPEs avec faible activité précoce.</a:t>
            </a:r>
          </a:p>
        </p:txBody>
      </p:sp>
      <p:pic>
        <p:nvPicPr>
          <p:cNvPr id="4" name="Picture 3" descr="xgb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143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Améliorations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Limitations :</a:t>
            </a:r>
          </a:p>
          <a:p>
            <a:pPr lvl="1">
              <a:defRPr sz="1800"/>
            </a:pPr>
            <a:r>
              <a:t>Faible Volume de Données : Seulement 416 essais complets. Limite le Deep Learning.</a:t>
            </a:r>
          </a:p>
          <a:p>
            <a:pPr lvl="1">
              <a:defRPr sz="1800"/>
            </a:pPr>
            <a:r>
              <a:t>Données Internes Uniquement : Pas de données économiques externes.</a:t>
            </a:r>
          </a:p>
          <a:p>
            <a:pPr>
              <a:defRPr sz="1800"/>
            </a:pPr>
            <a:r>
              <a:t>Améliorations Futures :</a:t>
            </a:r>
          </a:p>
          <a:p>
            <a:pPr lvl="1">
              <a:defRPr sz="1800"/>
            </a:pPr>
            <a:r>
              <a:t>Ensemble Hybride : Combiner LightGBM + GRU (Testé, gain marginal actuellement).</a:t>
            </a:r>
          </a:p>
          <a:p>
            <a:pPr lvl="1">
              <a:defRPr sz="1800"/>
            </a:pPr>
            <a:r>
              <a:t>Causal ML : Modéliser l'Uplift des appels CX.</a:t>
            </a:r>
          </a:p>
          <a:p>
            <a:pPr lvl="1">
              <a:defRPr sz="1800"/>
            </a:pPr>
            <a:r>
              <a:t>Monitoring : Ré-entraîner mensuellement pour détecter la dérive (Drift).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Résumé :</a:t>
            </a:r>
          </a:p>
          <a:p>
            <a:pPr lvl="1">
              <a:defRPr sz="1800"/>
            </a:pPr>
            <a:r>
              <a:t>Modèle robuste construit (AUC ~0.80).</a:t>
            </a:r>
          </a:p>
          <a:p>
            <a:pPr lvl="1">
              <a:defRPr sz="1800"/>
            </a:pPr>
            <a:r>
              <a:t>Signaux d'activation clés identifiés (Factures, Mobile, Connexion Bancaire).</a:t>
            </a:r>
          </a:p>
          <a:p>
            <a:pPr>
              <a:defRPr sz="1800"/>
            </a:pPr>
            <a:r>
              <a:t>Résultats :</a:t>
            </a:r>
          </a:p>
          <a:p>
            <a:pPr lvl="1">
              <a:defRPr sz="1800"/>
            </a:pPr>
            <a:r>
              <a:t>Potentiel de +5-8% de conversion via intervention ciblée.</a:t>
            </a:r>
          </a:p>
          <a:p>
            <a:pPr>
              <a:defRPr sz="1800"/>
            </a:pPr>
            <a:r>
              <a:t>Prochaines Étapes :</a:t>
            </a:r>
          </a:p>
          <a:p>
            <a:pPr>
              <a:defRPr sz="1800"/>
            </a:pPr>
            <a:r>
              <a:t>   1. Déployer l'API de Scoring (FastAPI/Gradio).</a:t>
            </a:r>
          </a:p>
          <a:p>
            <a:pPr>
              <a:defRPr sz="1800"/>
            </a:pPr>
            <a:r>
              <a:t>   2. A/B Test des actions CX sur les utilisateurs 'À Risque' (Prob &lt; 0.45).</a:t>
            </a:r>
          </a:p>
          <a:p>
            <a:pPr>
              <a:defRPr sz="1800"/>
            </a:pPr>
            <a:r>
              <a:t>   3. Monitorer la performance en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