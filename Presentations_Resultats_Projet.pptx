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Prédiction de Conversion Trial-to-Paid :</a:t>
            </a:r>
          </a:p>
          <a:p>
            <a:r>
              <a:t>Insights Data-Driven pour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Améliorer le taux de conversion de ~60% via l'analyse des signaux précurseurs et le Machine Learning</a:t>
            </a:r>
          </a:p>
          <a:p>
            <a:pPr>
              <a:defRPr>
                <a:latin typeface="Times New Roman"/>
              </a:defRPr>
            </a:pPr>
          </a:p>
          <a:p>
            <a:pPr>
              <a:defRPr>
                <a:latin typeface="Times New Roman"/>
              </a:defRPr>
            </a:pPr>
            <a:r>
              <a:t>Antigravity Agent – 2025-12-10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Contexte Business &amp; 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Contexte :</a:t>
            </a:r>
          </a:p>
          <a:p>
            <a:pPr lvl="1">
              <a:defRPr sz="1800">
                <a:latin typeface="Times New Roman"/>
              </a:defRPr>
            </a:pPr>
            <a:r>
              <a:t>Kolecto propose un essai gratuit de 15 jours convertissant en abonnement payant.</a:t>
            </a:r>
          </a:p>
          <a:p>
            <a:pPr lvl="1">
              <a:defRPr sz="1800">
                <a:latin typeface="Times New Roman"/>
              </a:defRPr>
            </a:pPr>
            <a:r>
              <a:t>Taux de conversion actuel : ~60% (Satisfaisant mais perfectible).</a:t>
            </a:r>
          </a:p>
          <a:p>
            <a:pPr>
              <a:defRPr sz="1800">
                <a:latin typeface="Times New Roman"/>
              </a:defRPr>
            </a:pPr>
            <a:r>
              <a:t>Challenge :</a:t>
            </a:r>
          </a:p>
          <a:p>
            <a:pPr lvl="1">
              <a:defRPr sz="1800">
                <a:latin typeface="Times New Roman"/>
              </a:defRPr>
            </a:pPr>
            <a:r>
              <a:t>Identifier tôt les signaux précurseurs (succès vs désabonnement).</a:t>
            </a:r>
          </a:p>
          <a:p>
            <a:pPr lvl="1">
              <a:defRPr sz="1800">
                <a:latin typeface="Times New Roman"/>
              </a:defRPr>
            </a:pPr>
            <a:r>
              <a:t>Permettre des actions ciblées par l'équipe Customer Experience (CX).</a:t>
            </a:r>
          </a:p>
          <a:p>
            <a:pPr>
              <a:defRPr sz="1800">
                <a:latin typeface="Times New Roman"/>
              </a:defRPr>
            </a:pPr>
            <a:r>
              <a:t>Objectifs :</a:t>
            </a:r>
          </a:p>
          <a:p>
            <a:pPr lvl="1">
              <a:defRPr sz="1800">
                <a:latin typeface="Times New Roman"/>
              </a:defRPr>
            </a:pPr>
            <a:r>
              <a:t>Analyser les facteurs différenciants (Convertis vs Non-Convertis).</a:t>
            </a:r>
          </a:p>
          <a:p>
            <a:pPr lvl="1">
              <a:defRPr sz="1800">
                <a:latin typeface="Times New Roman"/>
              </a:defRPr>
            </a:pPr>
            <a:r>
              <a:t>Construire un modèle ML pour prédire la probabilité de conversion.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Vue d'Ensemble des Données &amp; Prétraitement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Jeu de Données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Taille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Prétraitement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Daily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~11k lignes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Logs d'activité (Virements, Connexions)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Agrégation (Somme/Moyenne/Max/Std)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Subscriptions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416 essais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Profil Entreprise (CA, Code NAF)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Fusion, Imputation, Encodage OneHot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i="1">
                <a:latin typeface="Times New Roman"/>
              </a:defRPr>
            </a:pPr>
            <a:r>
              <a:t>Stats Clés : Échantillon Total : 416 essais complets.</a:t>
            </a:r>
          </a:p>
          <a:p>
            <a:pPr>
              <a:defRPr sz="1400" i="1">
                <a:latin typeface="Times New Roman"/>
              </a:defRPr>
            </a:pPr>
            <a:r>
              <a:t>Taux de Conversion : 60.7% (Déséquilibré mais gérable).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Méthodologie &amp; Modèles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Stratégie :</a:t>
            </a:r>
          </a:p>
          <a:p>
            <a:pPr lvl="1">
              <a:defRPr sz="1800">
                <a:latin typeface="Times New Roman"/>
              </a:defRPr>
            </a:pPr>
            <a:r>
              <a:t>Features Tabulaires (157 dims) pour modèles Arborescents.</a:t>
            </a:r>
          </a:p>
          <a:p>
            <a:pPr lvl="1">
              <a:defRPr sz="1800">
                <a:latin typeface="Times New Roman"/>
              </a:defRPr>
            </a:pPr>
            <a:r>
              <a:t>Données Séquentielles (15 jours) pour le Deep Learning.</a:t>
            </a:r>
          </a:p>
          <a:p>
            <a:pPr>
              <a:defRPr sz="1800">
                <a:latin typeface="Times New Roman"/>
              </a:defRPr>
            </a:pPr>
            <a:r>
              <a:t>Modèles Entraînés :</a:t>
            </a:r>
          </a:p>
          <a:p>
            <a:pPr lvl="1">
              <a:defRPr sz="1800">
                <a:latin typeface="Times New Roman"/>
              </a:defRPr>
            </a:pPr>
            <a:r>
              <a:t>Logistic Regression (Baseline).</a:t>
            </a:r>
          </a:p>
          <a:p>
            <a:pPr lvl="1">
              <a:defRPr sz="1800">
                <a:latin typeface="Times New Roman"/>
              </a:defRPr>
            </a:pPr>
            <a:r>
              <a:t>XGBoost &amp; LightGBM (Gradient Boosting optimisé avec Optuna).</a:t>
            </a:r>
          </a:p>
          <a:p>
            <a:pPr lvl="1">
              <a:defRPr sz="1800">
                <a:latin typeface="Times New Roman"/>
              </a:defRPr>
            </a:pPr>
            <a:r>
              <a:t>GRU &amp; Transformer (Modélisation séquentielle des signaux temporel).</a:t>
            </a:r>
          </a:p>
          <a:p>
            <a:pPr>
              <a:defRPr sz="1800">
                <a:latin typeface="Times New Roman"/>
              </a:defRPr>
            </a:pPr>
            <a:r>
              <a:t>Métriques d'Évaluation :</a:t>
            </a:r>
          </a:p>
          <a:p>
            <a:pPr lvl="1">
              <a:defRPr sz="1800">
                <a:latin typeface="Times New Roman"/>
              </a:defRPr>
            </a:pPr>
            <a:r>
              <a:t>ROC-AUC : Capacité de discrimination (Métrique Principale).</a:t>
            </a:r>
          </a:p>
          <a:p>
            <a:pPr lvl="1">
              <a:defRPr sz="1800">
                <a:latin typeface="Times New Roman"/>
              </a:defRPr>
            </a:pPr>
            <a:r>
              <a:t>PR-AUC : Précision-Rappel (Critique pour l'imbalance).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Comparaison Globale des Résultats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LightGBM (Vainqueur)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0.835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0.193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GRU (RNN)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0.217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0.211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0.229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0.242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657600"/>
            <a:ext cx="5486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Optimisation &amp; Dynamique d'Entraînement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Times New Roman"/>
              </a:defRPr>
            </a:pPr>
            <a:r>
              <a:t>LightGBM (Optuna) :</a:t>
            </a:r>
          </a:p>
          <a:p>
            <a:pPr lvl="1">
              <a:defRPr sz="1600">
                <a:latin typeface="Times New Roman"/>
              </a:defRPr>
            </a:pPr>
            <a:r>
              <a:t>Recherche efficace (50 essais).</a:t>
            </a:r>
          </a:p>
          <a:p>
            <a:pPr lvl="1">
              <a:defRPr sz="1600">
                <a:latin typeface="Times New Roman"/>
              </a:defRPr>
            </a:pPr>
            <a:r>
              <a:t>Convergence vers paramètres robustes (n_est=318, lr=0.018).</a:t>
            </a:r>
          </a:p>
          <a:p>
            <a:pPr>
              <a:defRPr sz="1600">
                <a:latin typeface="Times New Roman"/>
              </a:defRPr>
            </a:pPr>
            <a:r>
              <a:t>Dynamique Deep Learning :</a:t>
            </a:r>
          </a:p>
          <a:p>
            <a:pPr lvl="1">
              <a:defRPr sz="1600">
                <a:latin typeface="Times New Roman"/>
              </a:defRPr>
            </a:pPr>
            <a:r>
              <a:t>GRU : Bonne baisse de loss training, légère instabilité en validation.</a:t>
            </a:r>
          </a:p>
          <a:p>
            <a:pPr lvl="1">
              <a:defRPr sz="1600">
                <a:latin typeface="Times New Roman"/>
              </a:defRPr>
            </a:pPr>
            <a:r>
              <a:t>Transformer : Signes d'overfitting (Train Loss &lt;&lt; Val Loss).</a:t>
            </a:r>
          </a:p>
        </p:txBody>
      </p:sp>
      <p:pic>
        <p:nvPicPr>
          <p:cNvPr id="4" name="Picture 3" descr="lgbm_optimiz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3810000" cy="2286000"/>
          </a:xfrm>
          <a:prstGeom prst="rect">
            <a:avLst/>
          </a:prstGeom>
        </p:spPr>
      </p:pic>
      <p:pic>
        <p:nvPicPr>
          <p:cNvPr id="5" name="Picture 4" descr="gru_training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3810000" cy="2286000"/>
          </a:xfrm>
          <a:prstGeom prst="rect">
            <a:avLst/>
          </a:prstGeom>
        </p:spPr>
      </p:pic>
      <p:pic>
        <p:nvPicPr>
          <p:cNvPr id="6" name="Picture 5" descr="transformer_training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4114800"/>
            <a:ext cx="381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Importance des Features &amp;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0" cy="2743200"/>
          </a:xfrm>
        </p:spPr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Meilleurs Prédicteurs :</a:t>
            </a:r>
          </a:p>
          <a:p>
            <a:pPr lvl="1">
              <a:defRPr sz="1800">
                <a:latin typeface="Times New Roman"/>
              </a:defRPr>
            </a:pPr>
            <a:r>
              <a:t>company_age : Les entreprises plus anciennes/stables convertissent mieux.</a:t>
            </a:r>
          </a:p>
          <a:p>
            <a:pPr lvl="1">
              <a:defRPr sz="1800">
                <a:latin typeface="Times New Roman"/>
              </a:defRPr>
            </a:pPr>
            <a:r>
              <a:t>naf_code : Certains secteurs ont une affinité plus forte.</a:t>
            </a:r>
          </a:p>
          <a:p>
            <a:pPr lvl="1">
              <a:defRPr sz="1800">
                <a:latin typeface="Times New Roman"/>
              </a:defRPr>
            </a:pPr>
            <a:r>
              <a:t>nb_client_invoices_created_sum : L'usage (Facturation) est le signal #1.</a:t>
            </a:r>
          </a:p>
          <a:p>
            <a:pPr>
              <a:defRPr sz="1800">
                <a:latin typeface="Times New Roman"/>
              </a:defRPr>
            </a:pPr>
            <a:r>
              <a:t>Insights Actionnables :</a:t>
            </a:r>
          </a:p>
          <a:p>
            <a:pPr lvl="1">
              <a:defRPr sz="1800">
                <a:latin typeface="Times New Roman"/>
              </a:defRPr>
            </a:pPr>
            <a:r>
              <a:t>L'Activation Compte : Une utilisation précoce (Jours 1-3) est critique.</a:t>
            </a:r>
          </a:p>
          <a:p>
            <a:pPr lvl="1">
              <a:defRPr sz="1800">
                <a:latin typeface="Times New Roman"/>
              </a:defRPr>
            </a:pPr>
            <a:r>
              <a:t>Ciblage : Concentrer le CX sur les TPEs avec faible activité initiale.</a:t>
            </a:r>
          </a:p>
        </p:txBody>
      </p:sp>
      <p:pic>
        <p:nvPicPr>
          <p:cNvPr id="4" name="Picture 3" descr="xgb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657600"/>
            <a:ext cx="5486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Impact Business &amp; Recommandations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Impact Estimé :</a:t>
            </a:r>
          </a:p>
          <a:p>
            <a:pPr lvl="1">
              <a:defRPr sz="1800">
                <a:latin typeface="Times New Roman"/>
              </a:defRPr>
            </a:pPr>
            <a:r>
              <a:t>Cible : ~400 essais/mois.</a:t>
            </a:r>
          </a:p>
          <a:p>
            <a:pPr lvl="1">
              <a:defRPr sz="1800">
                <a:latin typeface="Times New Roman"/>
              </a:defRPr>
            </a:pPr>
            <a:r>
              <a:t>Lift : +5-8% de conversion via intervention ciblée.</a:t>
            </a:r>
          </a:p>
          <a:p>
            <a:pPr lvl="1">
              <a:defRPr sz="1800">
                <a:latin typeface="Times New Roman"/>
              </a:defRPr>
            </a:pPr>
            <a:r>
              <a:t>Valeur : 400 * 0.05 * 3k€ (LTV) = ~60k€/mois -&gt; 720k€/an.</a:t>
            </a:r>
          </a:p>
          <a:p>
            <a:pPr>
              <a:defRPr sz="1800">
                <a:latin typeface="Times New Roman"/>
              </a:defRPr>
            </a:pPr>
            <a:r>
              <a:t>Recommandations :</a:t>
            </a:r>
          </a:p>
          <a:p>
            <a:pPr lvl="1">
              <a:defRPr sz="1800">
                <a:latin typeface="Times New Roman"/>
              </a:defRPr>
            </a:pPr>
            <a:r>
              <a:t>Jours 1-3 (Automatisé) : Nudge si 'nb_connections' &lt; 2.</a:t>
            </a:r>
          </a:p>
          <a:p>
            <a:pPr lvl="1">
              <a:defRPr sz="1800">
                <a:latin typeface="Times New Roman"/>
              </a:defRPr>
            </a:pPr>
            <a:r>
              <a:t>Jours 7-10 (Humain) : Appel CX si Prob. Désabonnement &gt; 60%.</a:t>
            </a:r>
          </a:p>
          <a:p>
            <a:pPr lvl="1">
              <a:defRPr sz="1800">
                <a:latin typeface="Times New Roman"/>
              </a:defRPr>
            </a:pPr>
            <a:r>
              <a:t>Déploiement : A/B Test des interventions pour mesurer l'uplift réel.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Limitations &amp; Améliorations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Limitations :</a:t>
            </a:r>
          </a:p>
          <a:p>
            <a:pPr lvl="1">
              <a:defRPr sz="1800">
                <a:latin typeface="Times New Roman"/>
              </a:defRPr>
            </a:pPr>
            <a:r>
              <a:t>Faible Volume de Données : ~416 essais limitent le potentiel du Deep Learning.</a:t>
            </a:r>
          </a:p>
          <a:p>
            <a:pPr lvl="1">
              <a:defRPr sz="1800">
                <a:latin typeface="Times New Roman"/>
              </a:defRPr>
            </a:pPr>
            <a:r>
              <a:t>Facteurs Externes : Pas de données sur le contexte économique ou la saisonnalité.</a:t>
            </a:r>
          </a:p>
          <a:p>
            <a:pPr>
              <a:defRPr sz="1800">
                <a:latin typeface="Times New Roman"/>
              </a:defRPr>
            </a:pPr>
            <a:r>
              <a:t>Améliorations Futures :</a:t>
            </a:r>
          </a:p>
          <a:p>
            <a:pPr lvl="1">
              <a:defRPr sz="1800">
                <a:latin typeface="Times New Roman"/>
              </a:defRPr>
            </a:pPr>
            <a:r>
              <a:t>Ensemble Hybride : Combiner LightGBM (Tabulaire) + GRU (Séquentiel).</a:t>
            </a:r>
          </a:p>
          <a:p>
            <a:pPr lvl="1">
              <a:defRPr sz="1800">
                <a:latin typeface="Times New Roman"/>
              </a:defRPr>
            </a:pPr>
            <a:r>
              <a:t>Causal ML : Modéliser l'uplift (Persuadables vs Do-not-disturb).</a:t>
            </a:r>
          </a:p>
          <a:p>
            <a:pPr lvl="1">
              <a:defRPr sz="1800">
                <a:latin typeface="Times New Roman"/>
              </a:defRPr>
            </a:pPr>
            <a:r>
              <a:t>Entraînement Continu : Réentraînement mensuel pour gérer le 'data drift'.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Conclusion &amp; Prochaines Étapes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Times New Roman"/>
              </a:defRPr>
            </a:pPr>
            <a:r>
              <a:t>Résumé :</a:t>
            </a:r>
          </a:p>
          <a:p>
            <a:pPr lvl="1">
              <a:defRPr sz="1800">
                <a:latin typeface="Times New Roman"/>
              </a:defRPr>
            </a:pPr>
            <a:r>
              <a:t>Modèle robuste livré (LightGBM AUC 0.790).</a:t>
            </a:r>
          </a:p>
          <a:p>
            <a:pPr lvl="1">
              <a:defRPr sz="1800">
                <a:latin typeface="Times New Roman"/>
              </a:defRPr>
            </a:pPr>
            <a:r>
              <a:t>Leviers identifiés pour un lift de conversion de +5-8%.</a:t>
            </a:r>
          </a:p>
          <a:p>
            <a:pPr>
              <a:defRPr sz="1800">
                <a:latin typeface="Times New Roman"/>
              </a:defRPr>
            </a:pPr>
            <a:r>
              <a:t>Prochaines Étapes :</a:t>
            </a:r>
          </a:p>
          <a:p>
            <a:pPr>
              <a:defRPr sz="1800">
                <a:latin typeface="Times New Roman"/>
              </a:defRPr>
            </a:pPr>
            <a:r>
              <a:t>   1. Déployer l'API de Scoring (Containerisée).</a:t>
            </a:r>
          </a:p>
          <a:p>
            <a:pPr>
              <a:defRPr sz="1800">
                <a:latin typeface="Times New Roman"/>
              </a:defRPr>
            </a:pPr>
            <a:r>
              <a:t>   2. Lancer l'A/B Test pour les actions CX.</a:t>
            </a:r>
          </a:p>
          <a:p>
            <a:pPr>
              <a:defRPr sz="1800">
                <a:latin typeface="Times New Roman"/>
              </a:defRPr>
            </a:pPr>
            <a:r>
              <a:t>   3. Monitorer la Performance (MLflow) &amp; Collecter plus de 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