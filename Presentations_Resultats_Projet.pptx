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Predicting Trial-to-Paid Conversions:</a:t>
            </a:r>
          </a:p>
          <a:p>
            <a:r>
              <a:t>Data-Driven Insights for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Improving ~60% Conversion Rate Through Precursor Signal Analysis and ML Modeling</a:t>
            </a:r>
          </a:p>
          <a:p/>
          <a:p>
            <a:r>
              <a:t>Antigravity Agent – 2025-12-10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Context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Context:</a:t>
            </a:r>
          </a:p>
          <a:p>
            <a:pPr lvl="1">
              <a:defRPr sz="1800">
                <a:latin typeface="Arial"/>
              </a:defRPr>
            </a:pPr>
            <a:r>
              <a:t>Kolecto offers paid subscriptions with a 15-day trial.</a:t>
            </a:r>
          </a:p>
          <a:p>
            <a:pPr lvl="1">
              <a:defRPr sz="1800">
                <a:latin typeface="Arial"/>
              </a:defRPr>
            </a:pPr>
            <a:r>
              <a:t>Current conversion rate ~60% (Satisfactory but improvable).</a:t>
            </a:r>
          </a:p>
          <a:p>
            <a:pPr>
              <a:defRPr sz="1800">
                <a:latin typeface="Arial"/>
              </a:defRPr>
            </a:pPr>
            <a:r>
              <a:t>Challenge:</a:t>
            </a:r>
          </a:p>
          <a:p>
            <a:pPr lvl="1">
              <a:defRPr sz="1800">
                <a:latin typeface="Arial"/>
              </a:defRPr>
            </a:pPr>
            <a:r>
              <a:t>Identify precursor signals of cancellation/success early.</a:t>
            </a:r>
          </a:p>
          <a:p>
            <a:pPr lvl="1">
              <a:defRPr sz="1800">
                <a:latin typeface="Arial"/>
              </a:defRPr>
            </a:pPr>
            <a:r>
              <a:t>Enable targeted Customer Experience (CX) actions.</a:t>
            </a:r>
          </a:p>
          <a:p>
            <a:pPr>
              <a:defRPr sz="1800">
                <a:latin typeface="Arial"/>
              </a:defRPr>
            </a:pPr>
            <a:r>
              <a:t>Objectives:</a:t>
            </a:r>
          </a:p>
          <a:p>
            <a:pPr lvl="1">
              <a:defRPr sz="1800">
                <a:latin typeface="Arial"/>
              </a:defRPr>
            </a:pPr>
            <a:r>
              <a:t>Analyze differentiating factors (Converters vs Non-Converters).</a:t>
            </a:r>
          </a:p>
          <a:p>
            <a:pPr lvl="1">
              <a:defRPr sz="1800">
                <a:latin typeface="Arial"/>
              </a:defRPr>
            </a:pPr>
            <a:r>
              <a:t>Build ML model for conversion probability prediction.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Data Overview &amp; Preprocessing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Size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Preprocessing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Daily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~11k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Activity logs (Transfers, Connections)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Aggregated (Sum/Mean/Max/Std)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416 trials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Company Profile (Revenue, NAF)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Merged, Imputed, OneHot Encoded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i="1"/>
            </a:pPr>
            <a:r>
              <a:t>Key Stats: Total Samples: 416 complete trials.</a:t>
            </a:r>
          </a:p>
          <a:p>
            <a:pPr>
              <a:defRPr sz="1400" i="1"/>
            </a:pPr>
            <a:r>
              <a:t>Conversion Rate: 60.7% (Imbalanced but manageable).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Methodology &amp;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Strategy:</a:t>
            </a:r>
          </a:p>
          <a:p>
            <a:pPr lvl="1">
              <a:defRPr sz="1800">
                <a:latin typeface="Arial"/>
              </a:defRPr>
            </a:pPr>
            <a:r>
              <a:t>Tabular Features (157 dims) for Tree-based models.</a:t>
            </a:r>
          </a:p>
          <a:p>
            <a:pPr lvl="1">
              <a:defRPr sz="1800">
                <a:latin typeface="Arial"/>
              </a:defRPr>
            </a:pPr>
            <a:r>
              <a:t>Sequential Data (15 days) for Deep Learning.</a:t>
            </a:r>
          </a:p>
          <a:p>
            <a:pPr>
              <a:defRPr sz="1800">
                <a:latin typeface="Arial"/>
              </a:defRPr>
            </a:pPr>
            <a:r>
              <a:t>Models Trained:</a:t>
            </a:r>
          </a:p>
          <a:p>
            <a:pPr lvl="1">
              <a:defRPr sz="1800">
                <a:latin typeface="Arial"/>
              </a:defRPr>
            </a:pPr>
            <a:r>
              <a:t>Logistic Regression (Baseline).</a:t>
            </a:r>
          </a:p>
          <a:p>
            <a:pPr lvl="1">
              <a:defRPr sz="1800">
                <a:latin typeface="Arial"/>
              </a:defRPr>
            </a:pPr>
            <a:r>
              <a:t>XGBoost &amp; LightGBM (Gradient Boosting with Optuna tuning).</a:t>
            </a:r>
          </a:p>
          <a:p>
            <a:pPr lvl="1">
              <a:defRPr sz="1800">
                <a:latin typeface="Arial"/>
              </a:defRPr>
            </a:pPr>
            <a:r>
              <a:t>GRU &amp; Transformer (Sequential modeling for temporal signals).</a:t>
            </a:r>
          </a:p>
          <a:p>
            <a:pPr>
              <a:defRPr sz="1800">
                <a:latin typeface="Arial"/>
              </a:defRPr>
            </a:pPr>
            <a:r>
              <a:t>Evaluation Metrics:</a:t>
            </a:r>
          </a:p>
          <a:p>
            <a:pPr lvl="1">
              <a:defRPr sz="1800">
                <a:latin typeface="Arial"/>
              </a:defRPr>
            </a:pPr>
            <a:r>
              <a:t>ROC-AUC: Discrimination capability (Primary Metric).</a:t>
            </a:r>
          </a:p>
          <a:p>
            <a:pPr lvl="1">
              <a:defRPr sz="1800">
                <a:latin typeface="Arial"/>
              </a:defRPr>
            </a:pPr>
            <a:r>
              <a:t>PR-AUC: Precision-Recall (Critical for 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Overall Results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LightGBM (Winner)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0.835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0.193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GRU (RNN)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0.743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0.217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0.211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0.229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0.242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65760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Optimization &amp; Training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LightGBM (Optuna):</a:t>
            </a:r>
          </a:p>
          <a:p>
            <a:pPr lvl="1">
              <a:defRPr sz="1600">
                <a:latin typeface="Arial"/>
              </a:defRPr>
            </a:pPr>
            <a:r>
              <a:t>Efficient search (50 trials).</a:t>
            </a:r>
          </a:p>
          <a:p>
            <a:pPr lvl="1">
              <a:defRPr sz="1600">
                <a:latin typeface="Arial"/>
              </a:defRPr>
            </a:pPr>
            <a:r>
              <a:t>Converged to robust params (n_est=318, lr=0.018).</a:t>
            </a:r>
          </a:p>
          <a:p>
            <a:pPr>
              <a:defRPr sz="1600">
                <a:latin typeface="Arial"/>
              </a:defRPr>
            </a:pPr>
            <a:r>
              <a:t>Deep Learning Dynamics:</a:t>
            </a:r>
          </a:p>
          <a:p>
            <a:pPr lvl="1">
              <a:defRPr sz="1600">
                <a:latin typeface="Arial"/>
              </a:defRPr>
            </a:pPr>
            <a:r>
              <a:t>GRU: Steady loss decrease, slight validation instability.</a:t>
            </a:r>
          </a:p>
          <a:p>
            <a:pPr lvl="1">
              <a:defRPr sz="1600">
                <a:latin typeface="Arial"/>
              </a:defRPr>
            </a:pPr>
            <a:r>
              <a:t>Transformer: Signs of overfitting (Train Loss &lt;&lt; Val Loss).</a:t>
            </a:r>
          </a:p>
        </p:txBody>
      </p:sp>
      <p:pic>
        <p:nvPicPr>
          <p:cNvPr id="4" name="Picture 3" descr="lgbm_optimiz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5" name="Picture 4" descr="gru_training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6" name="Picture 5" descr="transformer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Feature Importance &amp;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0" cy="2743200"/>
          </a:xfrm>
        </p:spPr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Top Predictors:</a:t>
            </a:r>
          </a:p>
          <a:p>
            <a:pPr lvl="1">
              <a:defRPr sz="1800">
                <a:latin typeface="Arial"/>
              </a:defRPr>
            </a:pPr>
            <a:r>
              <a:t>company_age: Older/stable firms convert more.</a:t>
            </a:r>
          </a:p>
          <a:p>
            <a:pPr lvl="1">
              <a:defRPr sz="1800">
                <a:latin typeface="Arial"/>
              </a:defRPr>
            </a:pPr>
            <a:r>
              <a:t>naf_code: Specific industries have higher affinity.</a:t>
            </a:r>
          </a:p>
          <a:p>
            <a:pPr lvl="1">
              <a:defRPr sz="1800">
                <a:latin typeface="Arial"/>
              </a:defRPr>
            </a:pPr>
            <a:r>
              <a:t>nb_client_invoices_created_sum: Usage (Invoicing) is the #1 signal.</a:t>
            </a:r>
          </a:p>
          <a:p>
            <a:pPr>
              <a:defRPr sz="1800">
                <a:latin typeface="Arial"/>
              </a:defRPr>
            </a:pPr>
            <a:r>
              <a:t>Actionable Insights:</a:t>
            </a:r>
          </a:p>
          <a:p>
            <a:pPr lvl="1">
              <a:defRPr sz="1800">
                <a:latin typeface="Arial"/>
              </a:defRPr>
            </a:pPr>
            <a:r>
              <a:t>Activation Matters: Early usage (Day 1-3) is critical.</a:t>
            </a:r>
          </a:p>
          <a:p>
            <a:pPr lvl="1">
              <a:defRPr sz="1800">
                <a:latin typeface="Arial"/>
              </a:defRPr>
            </a:pPr>
            <a:r>
              <a:t>Targeting: Focus CX on TPEs with low early activity.</a:t>
            </a:r>
          </a:p>
        </p:txBody>
      </p:sp>
      <p:pic>
        <p:nvPicPr>
          <p:cNvPr id="4" name="Picture 3" descr="xgb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657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Business Impact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Estimated Impact:</a:t>
            </a:r>
          </a:p>
          <a:p>
            <a:pPr lvl="1">
              <a:defRPr sz="1800">
                <a:latin typeface="Arial"/>
              </a:defRPr>
            </a:pPr>
            <a:r>
              <a:t>Target: ~400 trials/month.</a:t>
            </a:r>
          </a:p>
          <a:p>
            <a:pPr lvl="1">
              <a:defRPr sz="1800">
                <a:latin typeface="Arial"/>
              </a:defRPr>
            </a:pPr>
            <a:r>
              <a:t>Lift: +5-8% conversion via targeted intervention.</a:t>
            </a:r>
          </a:p>
          <a:p>
            <a:pPr lvl="1">
              <a:defRPr sz="1800">
                <a:latin typeface="Arial"/>
              </a:defRPr>
            </a:pPr>
            <a:r>
              <a:t>Value Calc: 400 * 0.05 * €3k (LTV) = ~€60k/month -&gt; €720k/year.</a:t>
            </a:r>
          </a:p>
          <a:p>
            <a:pPr>
              <a:defRPr sz="1800">
                <a:latin typeface="Arial"/>
              </a:defRPr>
            </a:pPr>
            <a:r>
              <a:t>Recommendations:</a:t>
            </a:r>
          </a:p>
          <a:p>
            <a:pPr lvl="1">
              <a:defRPr sz="1800">
                <a:latin typeface="Arial"/>
              </a:defRPr>
            </a:pPr>
            <a:r>
              <a:t>Day 1-3 (Automated): Nudge users if 'nb_connections' &lt; 2.</a:t>
            </a:r>
          </a:p>
          <a:p>
            <a:pPr lvl="1">
              <a:defRPr sz="1800">
                <a:latin typeface="Arial"/>
              </a:defRPr>
            </a:pPr>
            <a:r>
              <a:t>Day 7-10 (Human): CX call if Churn Prob &gt; 60%.</a:t>
            </a:r>
          </a:p>
          <a:p>
            <a:pPr lvl="1">
              <a:defRPr sz="1800">
                <a:latin typeface="Arial"/>
              </a:defRPr>
            </a:pPr>
            <a:r>
              <a:t>Deployment: A/B Test interventions to measure real uplift.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Limitations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Limitations:</a:t>
            </a:r>
          </a:p>
          <a:p>
            <a:pPr lvl="1">
              <a:defRPr sz="1800">
                <a:latin typeface="Arial"/>
              </a:defRPr>
            </a:pPr>
            <a:r>
              <a:t>Small Dataset: ~416 trials limits Deep Learning potential.</a:t>
            </a:r>
          </a:p>
          <a:p>
            <a:pPr lvl="1">
              <a:defRPr sz="1800">
                <a:latin typeface="Arial"/>
              </a:defRPr>
            </a:pPr>
            <a:r>
              <a:t>External Factors: No data on economic context or seasonality.</a:t>
            </a:r>
          </a:p>
          <a:p>
            <a:pPr>
              <a:defRPr sz="1800">
                <a:latin typeface="Arial"/>
              </a:defRPr>
            </a:pPr>
            <a:r>
              <a:t>Future Improvements:</a:t>
            </a:r>
          </a:p>
          <a:p>
            <a:pPr lvl="1">
              <a:defRPr sz="1800">
                <a:latin typeface="Arial"/>
              </a:defRPr>
            </a:pPr>
            <a:r>
              <a:t>Hybrid Ensemble: Combine LightGBM (Tabular) + GRU (Sequential).</a:t>
            </a:r>
          </a:p>
          <a:p>
            <a:pPr lvl="1">
              <a:defRPr sz="1800">
                <a:latin typeface="Arial"/>
              </a:defRPr>
            </a:pPr>
            <a:r>
              <a:t>Causal ML: Model 'uplift' (Persuadables vs Do-not-disturb).</a:t>
            </a:r>
          </a:p>
          <a:p>
            <a:pPr lvl="1">
              <a:defRPr sz="1800">
                <a:latin typeface="Arial"/>
              </a:defRPr>
            </a:pPr>
            <a:r>
              <a:t>Continuous Training: Retrain monthly to handle data drift.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3366"/>
                </a:solidFill>
                <a:latin typeface="Arial"/>
              </a:defRPr>
            </a:pPr>
            <a: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>
                <a:latin typeface="Arial"/>
              </a:defRPr>
            </a:pPr>
            <a:r>
              <a:t>Summary:</a:t>
            </a:r>
          </a:p>
          <a:p>
            <a:pPr lvl="1">
              <a:defRPr sz="1800">
                <a:latin typeface="Arial"/>
              </a:defRPr>
            </a:pPr>
            <a:r>
              <a:t>Delivered robust model (LightGBM AUC 0.790).</a:t>
            </a:r>
          </a:p>
          <a:p>
            <a:pPr lvl="1">
              <a:defRPr sz="1800">
                <a:latin typeface="Arial"/>
              </a:defRPr>
            </a:pPr>
            <a:r>
              <a:t>Identified key levers for +5-8% conversion lift.</a:t>
            </a:r>
          </a:p>
          <a:p>
            <a:pPr>
              <a:defRPr sz="1800">
                <a:latin typeface="Arial"/>
              </a:defRPr>
            </a:pPr>
            <a:r>
              <a:t>Next Steps:</a:t>
            </a:r>
          </a:p>
          <a:p>
            <a:pPr>
              <a:defRPr sz="1800">
                <a:latin typeface="Arial"/>
              </a:defRPr>
            </a:pPr>
            <a:r>
              <a:t>   1. Deploy Scoring API (Containerized).</a:t>
            </a:r>
          </a:p>
          <a:p>
            <a:pPr>
              <a:defRPr sz="1800">
                <a:latin typeface="Arial"/>
              </a:defRPr>
            </a:pPr>
            <a:r>
              <a:t>   2. Launch A/B Test for CX actions.</a:t>
            </a:r>
          </a:p>
          <a:p>
            <a:pPr>
              <a:defRPr sz="1800">
                <a:latin typeface="Arial"/>
              </a:defRPr>
            </a:pPr>
            <a:r>
              <a:t>   3. Monitor Performance (MLflow) &amp; Collect more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