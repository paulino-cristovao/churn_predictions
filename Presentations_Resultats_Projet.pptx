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>
                <a:solidFill>
                  <a:srgbClr val="003366"/>
                </a:solidFill>
                <a:latin typeface="Times New Roman"/>
              </a:defRPr>
            </a:pPr>
            <a:r>
              <a:t>Prédiction de Conversion Trial-to-Paid :</a:t>
            </a:r>
          </a:p>
          <a:p>
            <a:r>
              <a:t>Insights Data-Driven pour Kolecto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>
                <a:latin typeface="Times New Roman"/>
              </a:defRPr>
            </a:pPr>
            <a:r>
              <a:t>Améliorer le taux de conversion de ~60% via l'analyse des signaux précurseurs et le Machine Learning</a:t>
            </a:r>
          </a:p>
          <a:p>
            <a:pPr>
              <a:defRPr>
                <a:latin typeface="Times New Roman"/>
              </a:defRPr>
            </a:pPr>
          </a:p>
          <a:p>
            <a:pPr>
              <a:defRPr>
                <a:latin typeface="Times New Roman"/>
              </a:defRPr>
            </a:pPr>
            <a:r>
              <a:t>Antigravity Agent – 2025-12-10</a:t>
            </a:r>
          </a:p>
        </p:txBody>
      </p:sp>
      <p:pic>
        <p:nvPicPr>
          <p:cNvPr id="4" name="Picture 3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Contexte Business &amp; Objectifs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Contexte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Kolecto propose un essai gratuit de 15 jours convertissant en abonnement payant.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Taux de conversion actuel : ~60% (Satisfaisant mais perfectible).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Challenge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Identifier tôt les signaux précurseurs (succès vs désabonnement).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Permettre des actions ciblées par l'équipe Customer Experience (CX).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Objectifs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Analyser les facteurs différenciants (Convertis vs Non-Convertis).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Construire un modèle ML pour prédire la probabilité de conversion.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Vue d'Ensemble des Données &amp; Prétraitement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Jeu de Données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Taille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Prétraitement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Daily Usage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~11k lignes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Logs d'activité (Virements, Connexions)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Agrégation (Somme/Moyenne/Max/Std)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Subscriptions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416 essais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Profil Entreprise (CA, Code NAF)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Fusion, Imputation, Encodage OneHot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defRPr sz="1400" i="1">
                <a:latin typeface="Times New Roman"/>
              </a:defRPr>
            </a:pPr>
            <a:r>
              <a:t>Stats Clés : Échantillon Total : 416 essais complets.</a:t>
            </a:r>
          </a:p>
          <a:p>
            <a:pPr>
              <a:defRPr sz="1400" i="1">
                <a:latin typeface="Times New Roman"/>
              </a:defRPr>
            </a:pPr>
            <a:r>
              <a:t>Taux de Conversion : 60.7% (Déséquilibré mais gérable).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Méthodologie &amp; Modèles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Stratégie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Features Tabulaires (157 dims) pour modèles Arborescents.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Données Séquentielles (15 jours) pour le Deep Learning.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Modèles Entraînés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Logistic Regression (Baseline).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XGBoost &amp; LightGBM (Gradient Boosting optimisé avec Optuna).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GRU &amp; Transformer (Modélisation séquentielle des signaux temporel).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Métriques d'Évaluation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ROC-AUC : Capacité de discrimination (Métrique Principale).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PR-AUC : Précision-Rappel (Critique pour l'imbalance).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Comparaison Globale des Résultats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  <a:gridCol w="14630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Modèle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PR-AUC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LightGBM (Vainqueur)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0.193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GRU (RNN)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72.3%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0.207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Logistic Reg.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XGBoost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0.772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latin typeface="Times New Roman"/>
                        </a:defRPr>
                      </a:pPr>
                      <a:r>
                        <a:t>0.242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4114800"/>
            <a:ext cx="5486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Optimisation &amp; Dynamique d'Entraînement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LightGBM (Optuna)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Recherche efficace (50 essais).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Convergence vers paramètres robustes (n_est=165, lr=0.011).</a:t>
            </a:r>
          </a:p>
          <a:p>
            <a:pPr>
              <a:spcAft>
                <a:spcPts val="500"/>
              </a:spcAft>
              <a:defRPr sz="1600">
                <a:latin typeface="Times New Roman"/>
              </a:defRPr>
            </a:pPr>
            <a:r>
              <a:t>Dynamique Deep Learning :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GRU : Bonne baisse de loss training, légère instabilité en validation.</a:t>
            </a:r>
          </a:p>
          <a:p>
            <a:pPr lvl="1">
              <a:spcAft>
                <a:spcPts val="500"/>
              </a:spcAft>
              <a:defRPr sz="1600">
                <a:latin typeface="Times New Roman"/>
              </a:defRPr>
            </a:pPr>
            <a:r>
              <a:t>•  Transformer : Signes d'overfitting (Train Loss &lt;&lt; Val Loss).</a:t>
            </a:r>
          </a:p>
        </p:txBody>
      </p:sp>
      <p:pic>
        <p:nvPicPr>
          <p:cNvPr id="5" name="Picture 4" descr="lgbm_optimiz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371600"/>
            <a:ext cx="3810000" cy="2286000"/>
          </a:xfrm>
          <a:prstGeom prst="rect">
            <a:avLst/>
          </a:prstGeom>
        </p:spPr>
      </p:pic>
      <p:pic>
        <p:nvPicPr>
          <p:cNvPr id="6" name="Picture 5" descr="gru_training_lo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114800"/>
            <a:ext cx="3810000" cy="2286000"/>
          </a:xfrm>
          <a:prstGeom prst="rect">
            <a:avLst/>
          </a:prstGeom>
        </p:spPr>
      </p:pic>
      <p:pic>
        <p:nvPicPr>
          <p:cNvPr id="7" name="Picture 6" descr="transformer_training_l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4114800"/>
            <a:ext cx="381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Importance des Features &amp; Insights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Meilleurs Prédicteurs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company_age : Les entreprises plus anciennes/stables convertissent mieux.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naf_code : Certains secteurs ont une affinité plus forte.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nb_client_invoices_created_sum : L'usage (Facturation) est le signal #1.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Insights Actionnables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L'Activation Compte : Une utilisation précoce (Jours 1-3) est critique.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Ciblage : Concentrer le CX sur les TPEs avec faible activité initiale.</a:t>
            </a:r>
          </a:p>
        </p:txBody>
      </p:sp>
      <p:pic>
        <p:nvPicPr>
          <p:cNvPr id="5" name="Picture 4" descr="xgb_feature_import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3840480"/>
            <a:ext cx="36576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Impact Business &amp; Recommandations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Impact Estimé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Cible : ~400 essais/mois.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Lift : +5-8% de conversion via intervention ciblée.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Valeur : 400 * 0.05 * 3k€ (LTV) = ~60k€/mois -&gt; 720k€/an.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Recommandations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1-3 (Automatisé) : Nudge si 'nb_connections' &lt; 2.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Jours 7-10 (Humain) : Appel CX si Prob. Désabonnement &gt; 60%.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Déploiement : A/B Test des interventions pour mesurer l'uplift réel.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Limitations &amp; Améliorations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Limitations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Faible Volume de Données : ~416 essais limitent le potentiel du Deep Learning.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Facteurs Externes : Pas de données sur le contexte économique ou la saisonnalité.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Améliorations Futures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Ensemble Hybride : Combiner LightGBM (Tabulaire) + GRU (Séquentiel).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Causal ML : Modéliser l'uplift (Persuadables vs Do-not-disturb).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Entraînement Continu : Réentraînement mensuel pour gérer le 'data drift'.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003366"/>
                </a:solidFill>
                <a:latin typeface="Times New Roman"/>
              </a:defRPr>
            </a:pPr>
            <a:r>
              <a:t>Conclusion &amp; Prochaines Étapes</a:t>
            </a:r>
          </a:p>
        </p:txBody>
      </p:sp>
      <p:pic>
        <p:nvPicPr>
          <p:cNvPr id="3" name="Picture 2" descr="kolecto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28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3716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Résumé :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Modèle robuste livré (LightGBM AUC 0.790).</a:t>
            </a:r>
          </a:p>
          <a:p>
            <a:pPr lvl="1">
              <a:spcAft>
                <a:spcPts val="1000"/>
              </a:spcAft>
              <a:defRPr sz="1600">
                <a:latin typeface="Times New Roman"/>
              </a:defRPr>
            </a:pPr>
            <a:r>
              <a:t>•  Leviers identifiés pour un lift de conversion de +5-8%.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Prochaines Étapes :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1. Déployer l'API de Scoring (Containerisée).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2. Lancer l'A/B Test pour les actions CX.</a:t>
            </a:r>
          </a:p>
          <a:p>
            <a:pPr>
              <a:spcAft>
                <a:spcPts val="1000"/>
              </a:spcAft>
              <a:defRPr sz="1800">
                <a:latin typeface="Times New Roman"/>
              </a:defRPr>
            </a:pPr>
            <a:r>
              <a:t>•    3. Monitorer la Performance (MLflow) &amp; Collecter plus de données.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