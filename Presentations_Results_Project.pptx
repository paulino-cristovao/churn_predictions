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Predicting Trial-to-Paid Conversions:</a:t>
            </a:r>
          </a:p>
          <a:p>
            <a:r>
              <a:t>Data-Driven Insights for Kolecto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Improving ~60% Conversion Rate Through Precursor Signal Analysis and ML Modeling</a:t>
            </a:r>
          </a:p>
          <a:p/>
          <a:p>
            <a:r>
              <a:t>Antigravity Agent – 2025-12-10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Context &amp;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Context:</a:t>
            </a:r>
          </a:p>
          <a:p>
            <a:pPr lvl="1">
              <a:defRPr sz="1800"/>
            </a:pPr>
            <a:r>
              <a:t>Kolecto 15-day free trial -&gt; Paid Subscription.</a:t>
            </a:r>
          </a:p>
          <a:p>
            <a:pPr lvl="1">
              <a:defRPr sz="1800"/>
            </a:pPr>
            <a:r>
              <a:t>Current Conversion: ~60% (Satisfactory but improvable).</a:t>
            </a:r>
          </a:p>
          <a:p>
            <a:pPr>
              <a:defRPr sz="1800"/>
            </a:pPr>
            <a:r>
              <a:t>Challenge:</a:t>
            </a:r>
          </a:p>
          <a:p>
            <a:pPr lvl="1">
              <a:defRPr sz="1800"/>
            </a:pPr>
            <a:r>
              <a:t>Identify precursor signals of user success or churn.</a:t>
            </a:r>
          </a:p>
          <a:p>
            <a:pPr lvl="1">
              <a:defRPr sz="1800"/>
            </a:pPr>
            <a:r>
              <a:t>Enable targeted Customer Experience (CX) actions.</a:t>
            </a:r>
          </a:p>
          <a:p>
            <a:pPr>
              <a:defRPr sz="1800"/>
            </a:pPr>
            <a:r>
              <a:t>Objectives:</a:t>
            </a:r>
          </a:p>
          <a:p>
            <a:pPr lvl="1">
              <a:defRPr sz="1800"/>
            </a:pPr>
            <a:r>
              <a:t>Analyze differentiating factors (Converters vs Non-Converters).</a:t>
            </a:r>
          </a:p>
          <a:p>
            <a:pPr lvl="1">
              <a:defRPr sz="1800"/>
            </a:pPr>
            <a:r>
              <a:t>Build ML models to predict conversion probability.</a:t>
            </a:r>
          </a:p>
          <a:p>
            <a:pPr>
              <a:defRPr sz="1800"/>
            </a:pPr>
            <a:r>
              <a:t>Approach:</a:t>
            </a:r>
          </a:p>
          <a:p>
            <a:pPr lvl="1">
              <a:defRPr sz="1800"/>
            </a:pPr>
            <a:r>
              <a:t>Activity Analysis (Daily Usage) + Profile Context (Subscriptions).</a:t>
            </a:r>
          </a:p>
          <a:p>
            <a:pPr lvl="1">
              <a:defRPr sz="1800"/>
            </a:pPr>
            <a:r>
              <a:t>Focus on Actionable Insights.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Overview &amp; 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Datasets:</a:t>
            </a:r>
          </a:p>
          <a:p>
            <a:pPr lvl="1">
              <a:defRPr sz="1800"/>
            </a:pPr>
            <a:r>
              <a:t>Daily Usage (~11k rows): Activity logs (Transfers, Connections, Invoices). Aggregated to per-trial summaries (Sum/Mean/Max/Std).</a:t>
            </a:r>
          </a:p>
          <a:p>
            <a:pPr lvl="1">
              <a:defRPr sz="1800"/>
            </a:pPr>
            <a:r>
              <a:t>Subscriptions (~416 trials): Firmographics (Revenue Range, NAF Code). Filtered to exact 15-day trials.</a:t>
            </a:r>
          </a:p>
          <a:p>
            <a:pPr>
              <a:defRPr sz="1800"/>
            </a:pPr>
            <a:r>
              <a:t>Key Stats:</a:t>
            </a:r>
          </a:p>
          <a:p>
            <a:pPr lvl="1">
              <a:defRPr sz="1800"/>
            </a:pPr>
            <a:r>
              <a:t>Total Samples: 416 clean trials.</a:t>
            </a:r>
          </a:p>
          <a:p>
            <a:pPr lvl="1">
              <a:defRPr sz="1800"/>
            </a:pPr>
            <a:r>
              <a:t>Conversion Rate: 60.7% (Imbalanced, but manageable).</a:t>
            </a:r>
          </a:p>
          <a:p>
            <a:pPr>
              <a:defRPr sz="1800"/>
            </a:pPr>
            <a:r>
              <a:t>Preprocessing:</a:t>
            </a:r>
          </a:p>
          <a:p>
            <a:pPr lvl="1">
              <a:defRPr sz="1800"/>
            </a:pPr>
            <a:r>
              <a:t>Merged Usage + Subscriptions.</a:t>
            </a:r>
          </a:p>
          <a:p>
            <a:pPr lvl="1">
              <a:defRPr sz="1800"/>
            </a:pPr>
            <a:r>
              <a:t>Handled Missing/Zero activity.</a:t>
            </a:r>
          </a:p>
          <a:p>
            <a:pPr lvl="1">
              <a:defRPr sz="1800"/>
            </a:pPr>
            <a:r>
              <a:t>Encoded Categoricals (OneHot/Ordinal) &amp; Scaled Numerics.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 &amp;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Preprocessing Stategy:</a:t>
            </a:r>
          </a:p>
          <a:p>
            <a:pPr lvl="1">
              <a:defRPr sz="1800"/>
            </a:pPr>
            <a:r>
              <a:t>Tabular: Aggregated features (157 dims) for Tree models.</a:t>
            </a:r>
          </a:p>
          <a:p>
            <a:pPr lvl="1">
              <a:defRPr sz="1800"/>
            </a:pPr>
            <a:r>
              <a:t>Sequential: Time-series sequences (15 days) for Deep Learning.</a:t>
            </a:r>
          </a:p>
          <a:p>
            <a:pPr>
              <a:defRPr sz="1800"/>
            </a:pPr>
            <a:r>
              <a:t>Models Trained:</a:t>
            </a:r>
          </a:p>
          <a:p>
            <a:pPr lvl="1">
              <a:defRPr sz="1800"/>
            </a:pPr>
            <a:r>
              <a:t>Logistic Regression: Baseline linear model.</a:t>
            </a:r>
          </a:p>
          <a:p>
            <a:pPr lvl="1">
              <a:defRPr sz="1800"/>
            </a:pPr>
            <a:r>
              <a:t>XGBoost &amp; LightGBM: Gradient Boosting with Optuna Tuning.</a:t>
            </a:r>
          </a:p>
          <a:p>
            <a:pPr lvl="1">
              <a:defRPr sz="1800"/>
            </a:pPr>
            <a:r>
              <a:t>GRU &amp; Transformer: Deep Learning for temporal patterns.</a:t>
            </a:r>
          </a:p>
          <a:p>
            <a:pPr>
              <a:defRPr sz="1800"/>
            </a:pPr>
            <a:r>
              <a:t>Evaluation Metrics:</a:t>
            </a:r>
          </a:p>
          <a:p>
            <a:pPr lvl="1">
              <a:defRPr sz="1800"/>
            </a:pPr>
            <a:r>
              <a:t>ROC-AUC: Discrimination ability.</a:t>
            </a:r>
          </a:p>
          <a:p>
            <a:pPr lvl="1">
              <a:defRPr sz="1800"/>
            </a:pPr>
            <a:r>
              <a:t>PR-AUC: Precision Recall (Critical for class imbalance).</a:t>
            </a:r>
          </a:p>
          <a:p>
            <a:pPr lvl="1">
              <a:defRPr sz="1800"/>
            </a:pPr>
            <a:r>
              <a:t>Brier Score: Probability calibration.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Overall Benchmarking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572000" cy="0"/>
          </a:xfrm>
        </p:spPr>
        <p:txBody>
          <a:bodyPr/>
          <a:lstStyle/>
          <a:p/>
          <a:p>
            <a:pPr>
              <a:defRPr sz="1800"/>
            </a:pPr>
            <a:r>
              <a:t>Champion: LightGBM</a:t>
            </a:r>
          </a:p>
          <a:p>
            <a:pPr lvl="1">
              <a:defRPr sz="1800"/>
            </a:pPr>
            <a:r>
              <a:t>ROC-AUC: 0.797 (Best Discrimination)</a:t>
            </a:r>
          </a:p>
          <a:p>
            <a:pPr lvl="1">
              <a:defRPr sz="1800"/>
            </a:pPr>
            <a:r>
              <a:t>PR-AUC: 0.839 (High Precision)</a:t>
            </a:r>
          </a:p>
          <a:p>
            <a:pPr lvl="1">
              <a:defRPr sz="1800"/>
            </a:pPr>
            <a:r>
              <a:t>Accuracy: 75.9%</a:t>
            </a:r>
          </a:p>
          <a:p>
            <a:pPr lvl="1">
              <a:defRPr sz="1800"/>
            </a:pPr>
            <a:r>
              <a:t>Brier: 0.194 (Well Calibrated)</a:t>
            </a:r>
          </a:p>
          <a:p>
            <a:pPr>
              <a:defRPr sz="1800"/>
            </a:pPr>
            <a:r>
              <a:t>Runner Up: GRU</a:t>
            </a:r>
          </a:p>
          <a:p>
            <a:pPr lvl="1">
              <a:defRPr sz="1800"/>
            </a:pPr>
            <a:r>
              <a:t>ROC-AUC: 0.715. Captures temporal signal but trained on small data.</a:t>
            </a:r>
          </a:p>
          <a:p>
            <a:pPr>
              <a:defRPr sz="1800"/>
            </a:pPr>
            <a:r>
              <a:t>Baseline:</a:t>
            </a:r>
          </a:p>
          <a:p>
            <a:pPr lvl="1">
              <a:defRPr sz="1800"/>
            </a:pPr>
            <a:r>
              <a:t>Logistic Regression (0.684).</a:t>
            </a:r>
          </a:p>
          <a:p>
            <a:pPr lvl="1">
              <a:defRPr sz="1800"/>
            </a:pPr>
            <a:r>
              <a:t>Transformer (0.678) - Overfitting due to small sample size.</a:t>
            </a:r>
          </a:p>
          <a:p>
            <a:pPr>
              <a:defRPr sz="1800"/>
            </a:pPr>
            <a:r>
              <a:t>Conclusion: LightGBM handles the high-dimensional tabular data best.</a:t>
            </a:r>
          </a:p>
        </p:txBody>
      </p:sp>
      <p:pic>
        <p:nvPicPr>
          <p:cNvPr id="4" name="Picture 3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12344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Optimization &amp; Training Dynamics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572000" cy="0"/>
          </a:xfrm>
        </p:spPr>
        <p:txBody>
          <a:bodyPr/>
          <a:lstStyle/>
          <a:p/>
          <a:p>
            <a:pPr>
              <a:defRPr sz="1800"/>
            </a:pPr>
            <a:r>
              <a:t>LightGBM (Optuna):</a:t>
            </a:r>
          </a:p>
          <a:p>
            <a:pPr lvl="1">
              <a:defRPr sz="1800"/>
            </a:pPr>
            <a:r>
              <a:t>Efficient search (50 trials).</a:t>
            </a:r>
          </a:p>
          <a:p>
            <a:pPr lvl="1">
              <a:defRPr sz="1800"/>
            </a:pPr>
            <a:r>
              <a:t>Converged to robust params (n_est=318, lr=0.018).</a:t>
            </a:r>
          </a:p>
          <a:p>
            <a:pPr>
              <a:defRPr sz="1800"/>
            </a:pPr>
            <a:r>
              <a:t>Deep Learning Dynamics:</a:t>
            </a:r>
          </a:p>
          <a:p>
            <a:pPr lvl="1">
              <a:defRPr sz="1800"/>
            </a:pPr>
            <a:r>
              <a:t>GRU: Good training loss decrease, but validation unstable.</a:t>
            </a:r>
          </a:p>
          <a:p>
            <a:pPr lvl="1">
              <a:defRPr sz="1800"/>
            </a:pPr>
            <a:r>
              <a:t>Transformer: Shows signs of overfitting (Gap between train/val).</a:t>
            </a:r>
          </a:p>
          <a:p>
            <a:pPr lvl="1">
              <a:defRPr sz="1800"/>
            </a:pPr>
            <a:r>
              <a:t>Takeaway: Deep models need more data (10k+ samples) to beat Trees here.</a:t>
            </a:r>
          </a:p>
        </p:txBody>
      </p:sp>
      <p:pic>
        <p:nvPicPr>
          <p:cNvPr id="4" name="Picture 3" descr="lgbm_optimization_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68580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Importance &amp; Signals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572000" cy="0"/>
          </a:xfrm>
        </p:spPr>
        <p:txBody>
          <a:bodyPr/>
          <a:lstStyle/>
          <a:p/>
          <a:p>
            <a:pPr>
              <a:defRPr sz="1800"/>
            </a:pPr>
            <a:r>
              <a:t>Top Predictors (LightGBM/XGBoost):</a:t>
            </a:r>
          </a:p>
          <a:p>
            <a:pPr lvl="1">
              <a:defRPr sz="1800"/>
            </a:pPr>
            <a:r>
              <a:t>company_age: Older/Stable firms convert more.</a:t>
            </a:r>
          </a:p>
          <a:p>
            <a:pPr lvl="1">
              <a:defRPr sz="1800"/>
            </a:pPr>
            <a:r>
              <a:t>naf_code: Specific industries show higher affinity.</a:t>
            </a:r>
          </a:p>
          <a:p>
            <a:pPr lvl="1">
              <a:defRPr sz="1800"/>
            </a:pPr>
            <a:r>
              <a:t>nb_client_invoices_created_sum: Active usage (Invoicing) is the #1 signal.</a:t>
            </a:r>
          </a:p>
          <a:p>
            <a:pPr>
              <a:defRPr sz="1800"/>
            </a:pPr>
            <a:r>
              <a:t>Insights:</a:t>
            </a:r>
          </a:p>
          <a:p>
            <a:pPr lvl="1">
              <a:defRPr sz="1800"/>
            </a:pPr>
            <a:r>
              <a:t>'Activation' matters: Users sending invoices or connecting banks early convert.</a:t>
            </a:r>
          </a:p>
          <a:p>
            <a:pPr lvl="1">
              <a:defRPr sz="1800"/>
            </a:pPr>
            <a:r>
              <a:t>Low Activity Warning: Mobile connections &lt; 2 by Day 3 = 3x Risk.</a:t>
            </a:r>
          </a:p>
          <a:p>
            <a:pPr lvl="1">
              <a:defRPr sz="1800"/>
            </a:pPr>
            <a:r>
              <a:t>Targeting: Focus CX on TPEs with low early activity.</a:t>
            </a:r>
          </a:p>
        </p:txBody>
      </p:sp>
      <p:pic>
        <p:nvPicPr>
          <p:cNvPr id="4" name="Picture 3" descr="xgb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51435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&amp;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Limitations:</a:t>
            </a:r>
          </a:p>
          <a:p>
            <a:pPr lvl="1">
              <a:defRPr sz="1800"/>
            </a:pPr>
            <a:r>
              <a:t>Small Dataset: Only 416 complete trials. Limits Deep Learning potential.</a:t>
            </a:r>
          </a:p>
          <a:p>
            <a:pPr lvl="1">
              <a:defRPr sz="1800"/>
            </a:pPr>
            <a:r>
              <a:t>Internal Data Only: No external economic intent data.</a:t>
            </a:r>
          </a:p>
          <a:p>
            <a:pPr>
              <a:defRPr sz="1800"/>
            </a:pPr>
            <a:r>
              <a:t>Future Improvements:</a:t>
            </a:r>
          </a:p>
          <a:p>
            <a:pPr lvl="1">
              <a:defRPr sz="1800"/>
            </a:pPr>
            <a:r>
              <a:t>Hybrid Ensemble: Combine LightGBM + GRU (Tested, marginal gain currently).</a:t>
            </a:r>
          </a:p>
          <a:p>
            <a:pPr lvl="1">
              <a:defRPr sz="1800"/>
            </a:pPr>
            <a:r>
              <a:t>Causal ML: To model 'Uplift' of CX calls.</a:t>
            </a:r>
          </a:p>
          <a:p>
            <a:pPr lvl="1">
              <a:defRPr sz="1800"/>
            </a:pPr>
            <a:r>
              <a:t>Monitoring: Retrain monthly to detect concept drift.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Summary:</a:t>
            </a:r>
          </a:p>
          <a:p>
            <a:pPr lvl="1">
              <a:defRPr sz="1800"/>
            </a:pPr>
            <a:r>
              <a:t>Built a robust prediction model (AUC ~0.80).</a:t>
            </a:r>
          </a:p>
          <a:p>
            <a:pPr lvl="1">
              <a:defRPr sz="1800"/>
            </a:pPr>
            <a:r>
              <a:t>Identified key activation signals (Invoices, Mobile, Bank Connect).</a:t>
            </a:r>
          </a:p>
          <a:p>
            <a:pPr>
              <a:defRPr sz="1800"/>
            </a:pPr>
            <a:r>
              <a:t>Results:</a:t>
            </a:r>
          </a:p>
          <a:p>
            <a:pPr lvl="1">
              <a:defRPr sz="1800"/>
            </a:pPr>
            <a:r>
              <a:t>+5-8% Potential Conversion uplift via targeted intervention.</a:t>
            </a:r>
          </a:p>
          <a:p>
            <a:pPr>
              <a:defRPr sz="1800"/>
            </a:pPr>
            <a:r>
              <a:t>Next Steps:</a:t>
            </a:r>
          </a:p>
          <a:p>
            <a:pPr>
              <a:defRPr sz="1800"/>
            </a:pPr>
            <a:r>
              <a:t>   1. Deploy Scoring API (FastAPI/Gradio).</a:t>
            </a:r>
          </a:p>
          <a:p>
            <a:pPr>
              <a:defRPr sz="1800"/>
            </a:pPr>
            <a:r>
              <a:t>   2. A/B Test CX Actions on 'At Risk' users (Prob &lt; 0.45).</a:t>
            </a:r>
          </a:p>
          <a:p>
            <a:pPr>
              <a:defRPr sz="1800"/>
            </a:pPr>
            <a:r>
              <a:t>   3. Monitor performance.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